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65" r:id="rId2"/>
    <p:sldId id="310" r:id="rId3"/>
    <p:sldId id="318" r:id="rId4"/>
    <p:sldId id="314" r:id="rId5"/>
    <p:sldId id="319" r:id="rId6"/>
    <p:sldId id="316" r:id="rId7"/>
    <p:sldId id="321" r:id="rId8"/>
    <p:sldId id="317" r:id="rId9"/>
  </p:sldIdLst>
  <p:sldSz cx="12188825"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55" autoAdjust="0"/>
    <p:restoredTop sz="94216" autoAdjust="0"/>
  </p:normalViewPr>
  <p:slideViewPr>
    <p:cSldViewPr showGuides="1">
      <p:cViewPr varScale="1">
        <p:scale>
          <a:sx n="42" d="100"/>
          <a:sy n="42" d="100"/>
        </p:scale>
        <p:origin x="72" y="708"/>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tags" Target="tags/tag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8/29/2026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8/29/2026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we’re presenting Reflex, our delivery visibility solution for small Kenyan retailers.”</a:t>
            </a:r>
          </a:p>
          <a:p>
            <a:r>
              <a:rPr lang="en-US" dirty="0"/>
              <a:t>“Reflex addresses a common coordination challenge where deliveries are managed through different conversations and phone calls. Our solution connects three roles — the retailer, dispatcher and rider — through one structured delivery workflow.”</a:t>
            </a:r>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2938162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issue is not that retailers cannot communicate with riders. The issue is what happens to the information during that communication.”</a:t>
            </a:r>
          </a:p>
          <a:p>
            <a:r>
              <a:rPr lang="en-US" dirty="0"/>
              <a:t>“When delivery coordination happens through WhatsApp and phone calls, there may not be one clear record showing who is responsible, what stage the delivery has reached, or whether the handover has been confirmed.</a:t>
            </a:r>
          </a:p>
          <a:p>
            <a:r>
              <a:rPr lang="en-US" dirty="0"/>
              <a:t>This creates uncertainty and leads to manual follow-up. Reflex focuses specifically on closing that visibility and accountability gap.”</a:t>
            </a:r>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2</a:t>
            </a:fld>
            <a:endParaRPr lang="en-US"/>
          </a:p>
        </p:txBody>
      </p:sp>
    </p:spTree>
    <p:extLst>
      <p:ext uri="{BB962C8B-B14F-4D97-AF65-F5344CB8AC3E}">
        <p14:creationId xmlns:p14="http://schemas.microsoft.com/office/powerpoint/2010/main" val="822035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Reflex comes in.”</a:t>
            </a:r>
          </a:p>
          <a:p>
            <a:r>
              <a:rPr lang="en-US" dirty="0"/>
              <a:t>“Reflex turns the fragmented process into one trackable workflow. The retailer logs the delivery, the dispatcher assigns it to a rider, and the rider updates the delivery as it progresses.</a:t>
            </a:r>
          </a:p>
          <a:p>
            <a:r>
              <a:rPr lang="en-US" dirty="0"/>
              <a:t>At the final handover, the delivery is confirmed using a delivery-specific confirmation code. The result is one shared delivery record with a defined status and clear responsibility.”</a:t>
            </a:r>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3</a:t>
            </a:fld>
            <a:endParaRPr lang="en-US"/>
          </a:p>
        </p:txBody>
      </p:sp>
    </p:spTree>
    <p:extLst>
      <p:ext uri="{BB962C8B-B14F-4D97-AF65-F5344CB8AC3E}">
        <p14:creationId xmlns:p14="http://schemas.microsoft.com/office/powerpoint/2010/main" val="104061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deliberately simple.”</a:t>
            </a:r>
          </a:p>
          <a:p>
            <a:r>
              <a:rPr lang="en-US" dirty="0"/>
              <a:t>“The retailer first logs the delivery. The dispatcher then assigns it to a rider, who can view their assigned deliveries and update the status.</a:t>
            </a:r>
          </a:p>
          <a:p>
            <a:r>
              <a:rPr lang="en-US" dirty="0"/>
              <a:t>Every delivery follows the same lifecycle: Pending, Assigned, Picked Up and Delivered. The system enforces this sequence, meaning a rider cannot skip a stage or move backwards.</a:t>
            </a:r>
          </a:p>
          <a:p>
            <a:r>
              <a:rPr lang="en-US" dirty="0"/>
              <a:t>At handover, the confirmation code is validated before the delivery becomes Delivered</a:t>
            </a:r>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4</a:t>
            </a:fld>
            <a:endParaRPr lang="en-US"/>
          </a:p>
        </p:txBody>
      </p:sp>
    </p:spTree>
    <p:extLst>
      <p:ext uri="{BB962C8B-B14F-4D97-AF65-F5344CB8AC3E}">
        <p14:creationId xmlns:p14="http://schemas.microsoft.com/office/powerpoint/2010/main" val="1728983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workflow is a deliberately simple architecture.”</a:t>
            </a:r>
          </a:p>
          <a:p>
            <a:r>
              <a:rPr lang="en-US" dirty="0"/>
              <a:t>“Reflex is implemented as a Node.js command-line application, with delivery records stored in a shared JSON file.</a:t>
            </a:r>
          </a:p>
          <a:p>
            <a:r>
              <a:rPr lang="en-US" dirty="0"/>
              <a:t>The record contains the delivery details, assigned rider, status and timestamps. All three roles operate on the same delivery record, which gives us a shared source of truth.</a:t>
            </a:r>
          </a:p>
          <a:p>
            <a:r>
              <a:rPr lang="en-US" dirty="0"/>
              <a:t>Most importantly, the application enforces the delivery lifecycle: Pending, Assigned, Picked Up and Delivered.”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sprint MVP, not a production architecture. We kept it lightweight so we could demonstrate the workflow reliably within the sprint.”</a:t>
            </a:r>
          </a:p>
          <a:p>
            <a:endParaRPr lang="en-US" dirty="0"/>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5</a:t>
            </a:fld>
            <a:endParaRPr lang="en-US"/>
          </a:p>
        </p:txBody>
      </p:sp>
    </p:spTree>
    <p:extLst>
      <p:ext uri="{BB962C8B-B14F-4D97-AF65-F5344CB8AC3E}">
        <p14:creationId xmlns:p14="http://schemas.microsoft.com/office/powerpoint/2010/main" val="3188874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main trade-offs we want to make clear.”</a:t>
            </a:r>
          </a:p>
          <a:p>
            <a:r>
              <a:rPr lang="en-US" dirty="0"/>
              <a:t>“First, we used a typed confirmation code instead of physical QR scanning because a CLI has no camera.</a:t>
            </a:r>
          </a:p>
          <a:p>
            <a:r>
              <a:rPr lang="en-US" dirty="0"/>
              <a:t>Second, synchronization is checkpoint-based rather than true real-time synchronization.</a:t>
            </a:r>
          </a:p>
          <a:p>
            <a:r>
              <a:rPr lang="en-US" dirty="0"/>
              <a:t>Third, we used JSON instead of a database because it was faster and simpler for the sprint.</a:t>
            </a:r>
          </a:p>
          <a:p>
            <a:r>
              <a:rPr lang="en-US" dirty="0"/>
              <a:t>Finally, when a delivery is already assigned, the system warns about reassignment but still allows it. This exposes a concurrency limitation that would need stronger controls in production.</a:t>
            </a:r>
          </a:p>
          <a:p>
            <a:r>
              <a:rPr lang="en-US" dirty="0"/>
              <a:t>These were intentional MVP decisions. We identified what we would replace or strengthen in a production version.”</a:t>
            </a:r>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6</a:t>
            </a:fld>
            <a:endParaRPr lang="en-US"/>
          </a:p>
        </p:txBody>
      </p:sp>
    </p:spTree>
    <p:extLst>
      <p:ext uri="{BB962C8B-B14F-4D97-AF65-F5344CB8AC3E}">
        <p14:creationId xmlns:p14="http://schemas.microsoft.com/office/powerpoint/2010/main" val="3194258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is based on strengthening the foundation first.”</a:t>
            </a:r>
          </a:p>
          <a:p>
            <a:r>
              <a:rPr lang="en-US" dirty="0"/>
              <a:t>“Right now, the MVP proves the core workflow through the CLI — logging, assignment, status updates and confirmation.</a:t>
            </a:r>
          </a:p>
          <a:p>
            <a:r>
              <a:rPr lang="en-US" dirty="0"/>
              <a:t>The next stage would introduce production infrastructure: a proper database, backend API, authentication and more reliable synchronization.</a:t>
            </a:r>
          </a:p>
          <a:p>
            <a:r>
              <a:rPr lang="en-US" dirty="0"/>
              <a:t>Once that foundation is in place, we could add richer delivery visibility such as GPS tracking, proof of delivery, notifications and analytics.”</a:t>
            </a:r>
          </a:p>
          <a:p>
            <a:r>
              <a:rPr lang="en-US" b="1" dirty="0"/>
              <a:t>Key emphasis:</a:t>
            </a:r>
            <a:endParaRPr lang="en-US" dirty="0"/>
          </a:p>
          <a:p>
            <a:r>
              <a:rPr lang="en-US" dirty="0"/>
              <a:t>“We deliberately placed GPS later because reliable location tracking depends on having a production backend and an appropriate rider client first.”</a:t>
            </a:r>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7</a:t>
            </a:fld>
            <a:endParaRPr lang="en-US"/>
          </a:p>
        </p:txBody>
      </p:sp>
    </p:spTree>
    <p:extLst>
      <p:ext uri="{BB962C8B-B14F-4D97-AF65-F5344CB8AC3E}">
        <p14:creationId xmlns:p14="http://schemas.microsoft.com/office/powerpoint/2010/main" val="2714329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bring everything together…”</a:t>
            </a:r>
          </a:p>
          <a:p>
            <a:r>
              <a:rPr lang="en-US" dirty="0"/>
              <a:t>“Reflex does not try to solve every logistics problem. It focuses on one important gap: delivery visibility.</a:t>
            </a:r>
          </a:p>
          <a:p>
            <a:r>
              <a:rPr lang="en-US" dirty="0"/>
              <a:t>By turning fragmented coordination into a structured workflow connecting the retailer, dispatcher and rider, each delivery has a record, a defined lifecycle and clearer accountability.</a:t>
            </a:r>
          </a:p>
          <a:p>
            <a:r>
              <a:rPr lang="en-US" dirty="0"/>
              <a:t>The key takeaway is simple: </a:t>
            </a:r>
            <a:r>
              <a:rPr lang="en-US" b="1" dirty="0"/>
              <a:t>one record, one lifecycle, clearer visibility.</a:t>
            </a:r>
            <a:r>
              <a:rPr lang="en-US" dirty="0"/>
              <a:t>”</a:t>
            </a:r>
          </a:p>
          <a:p>
            <a:endParaRPr lang="en-US" dirty="0"/>
          </a:p>
          <a:p>
            <a:r>
              <a:rPr lang="en-US" dirty="0"/>
              <a:t>“We’ll now hand over to the demo to show this workflow running end-to-end.”</a:t>
            </a:r>
          </a:p>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8</a:t>
            </a:fld>
            <a:endParaRPr lang="en-US"/>
          </a:p>
        </p:txBody>
      </p:sp>
    </p:spTree>
    <p:extLst>
      <p:ext uri="{BB962C8B-B14F-4D97-AF65-F5344CB8AC3E}">
        <p14:creationId xmlns:p14="http://schemas.microsoft.com/office/powerpoint/2010/main" val="903171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8/29/2026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8/29/2026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8/29/2026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8/29/2026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8/29/2026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8/29/2026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8/29/2026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8/29/2026</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8/29/2026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8/29/2026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8/29/2026</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065214" y="533400"/>
            <a:ext cx="8229600" cy="1600200"/>
          </a:xfrm>
        </p:spPr>
        <p:txBody>
          <a:bodyPr/>
          <a:lstStyle/>
          <a:p>
            <a:pPr algn="ctr"/>
            <a:r>
              <a:rPr lang="en-US" b="1" dirty="0"/>
              <a:t>REFLEX</a:t>
            </a:r>
          </a:p>
        </p:txBody>
      </p:sp>
      <p:sp>
        <p:nvSpPr>
          <p:cNvPr id="4" name="Subtitle 3"/>
          <p:cNvSpPr>
            <a:spLocks noGrp="1"/>
          </p:cNvSpPr>
          <p:nvPr>
            <p:ph type="subTitle" idx="1"/>
          </p:nvPr>
        </p:nvSpPr>
        <p:spPr>
          <a:xfrm>
            <a:off x="0" y="2133600"/>
            <a:ext cx="11961812" cy="3886200"/>
          </a:xfrm>
        </p:spPr>
        <p:txBody>
          <a:bodyPr>
            <a:noAutofit/>
          </a:bodyPr>
          <a:lstStyle/>
          <a:p>
            <a:pPr algn="ctr"/>
            <a:r>
              <a:rPr lang="en-US" sz="4000" b="1" dirty="0">
                <a:latin typeface="Aptos" panose="020B0004020202020204" pitchFamily="34" charset="0"/>
              </a:rPr>
              <a:t>From fragmented coordination to a visible delivery workflow</a:t>
            </a:r>
          </a:p>
          <a:p>
            <a:pPr algn="ctr"/>
            <a:endParaRPr lang="en-US" sz="4000" b="1" dirty="0">
              <a:latin typeface="Aptos" panose="020B0004020202020204" pitchFamily="34" charset="0"/>
            </a:endParaRPr>
          </a:p>
          <a:p>
            <a:pPr algn="ctr"/>
            <a:r>
              <a:rPr lang="en-US" sz="4000" b="1" dirty="0">
                <a:latin typeface="Aptos" panose="020B0004020202020204" pitchFamily="34" charset="0"/>
              </a:rPr>
              <a:t>Team Reflex | Week 3 Final Sprint</a:t>
            </a:r>
          </a:p>
          <a:p>
            <a:pPr algn="ctr"/>
            <a:endParaRPr lang="en-US" sz="4000" b="1" dirty="0">
              <a:latin typeface="Aptos" panose="020B0004020202020204" pitchFamily="34" charset="0"/>
            </a:endParaRPr>
          </a:p>
          <a:p>
            <a:pPr algn="ctr"/>
            <a:r>
              <a:rPr lang="en-US" sz="4000" b="1" dirty="0">
                <a:latin typeface="Aptos" panose="020B0004020202020204" pitchFamily="34" charset="0"/>
              </a:rPr>
              <a:t>RETAILER → DISPATCHER → RIDER</a:t>
            </a:r>
          </a:p>
          <a:p>
            <a:pPr algn="ctr"/>
            <a:endParaRPr lang="it-IT" sz="4000" b="1" dirty="0">
              <a:latin typeface="Aptos" panose="020B0004020202020204" pitchFamily="34" charset="0"/>
            </a:endParaRPr>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228600"/>
            <a:ext cx="7848599" cy="990600"/>
          </a:xfrm>
        </p:spPr>
        <p:txBody>
          <a:bodyPr>
            <a:normAutofit/>
          </a:bodyPr>
          <a:lstStyle/>
          <a:p>
            <a:pPr algn="ctr"/>
            <a:r>
              <a:rPr lang="en-US" sz="4000" dirty="0">
                <a:solidFill>
                  <a:schemeClr val="accent1"/>
                </a:solidFill>
                <a:latin typeface="Aptos heading"/>
              </a:rPr>
              <a:t>THE PROBLEM</a:t>
            </a:r>
          </a:p>
        </p:txBody>
      </p:sp>
      <p:sp>
        <p:nvSpPr>
          <p:cNvPr id="14" name="Content Placeholder 13"/>
          <p:cNvSpPr>
            <a:spLocks noGrp="1"/>
          </p:cNvSpPr>
          <p:nvPr>
            <p:ph idx="1"/>
          </p:nvPr>
        </p:nvSpPr>
        <p:spPr>
          <a:xfrm>
            <a:off x="303213" y="1219201"/>
            <a:ext cx="11353800" cy="5257800"/>
          </a:xfrm>
        </p:spPr>
        <p:txBody>
          <a:bodyPr>
            <a:noAutofit/>
          </a:bodyPr>
          <a:lstStyle/>
          <a:p>
            <a:pPr marL="0" indent="0">
              <a:buNone/>
            </a:pPr>
            <a:r>
              <a:rPr lang="en-US" sz="3000" b="1" dirty="0">
                <a:latin typeface="Aptos" panose="020B0004020202020204" pitchFamily="34" charset="0"/>
              </a:rPr>
              <a:t>Delivery coordination is fragmented.</a:t>
            </a:r>
            <a:endParaRPr lang="en-US" sz="3000" dirty="0">
              <a:latin typeface="Aptos" panose="020B0004020202020204" pitchFamily="34" charset="0"/>
            </a:endParaRPr>
          </a:p>
          <a:p>
            <a:pPr marL="0" indent="0">
              <a:buNone/>
            </a:pPr>
            <a:r>
              <a:rPr lang="en-US" sz="3000" dirty="0">
                <a:latin typeface="Aptos" panose="020B0004020202020204" pitchFamily="34" charset="0"/>
              </a:rPr>
              <a:t>WhatsApp + Phone Calls</a:t>
            </a:r>
          </a:p>
          <a:p>
            <a:pPr marL="0" indent="0">
              <a:buNone/>
            </a:pPr>
            <a:r>
              <a:rPr lang="en-US" sz="3000" dirty="0">
                <a:latin typeface="Aptos" panose="020B0004020202020204" pitchFamily="34" charset="0"/>
              </a:rPr>
              <a:t>↓</a:t>
            </a:r>
          </a:p>
          <a:p>
            <a:pPr marL="0" indent="0">
              <a:buNone/>
            </a:pPr>
            <a:r>
              <a:rPr lang="en-US" sz="3000" b="1" dirty="0">
                <a:latin typeface="Aptos" panose="020B0004020202020204" pitchFamily="34" charset="0"/>
              </a:rPr>
              <a:t>No single view of:</a:t>
            </a:r>
            <a:endParaRPr lang="en-US" sz="3000" dirty="0">
              <a:latin typeface="Aptos" panose="020B0004020202020204" pitchFamily="34" charset="0"/>
            </a:endParaRPr>
          </a:p>
          <a:p>
            <a:pPr marL="0" indent="0">
              <a:buNone/>
            </a:pPr>
            <a:r>
              <a:rPr lang="en-US" sz="3000" dirty="0">
                <a:latin typeface="Aptos" panose="020B0004020202020204" pitchFamily="34" charset="0"/>
              </a:rPr>
              <a:t>Assignment • Status • Confirmation</a:t>
            </a:r>
          </a:p>
          <a:p>
            <a:pPr marL="0" indent="0">
              <a:buNone/>
            </a:pPr>
            <a:r>
              <a:rPr lang="en-US" sz="3000" b="1" dirty="0">
                <a:latin typeface="Aptos" panose="020B0004020202020204" pitchFamily="34" charset="0"/>
              </a:rPr>
              <a:t>Bottom line</a:t>
            </a:r>
            <a:endParaRPr lang="en-US" sz="3000" dirty="0">
              <a:latin typeface="Aptos" panose="020B0004020202020204" pitchFamily="34" charset="0"/>
            </a:endParaRPr>
          </a:p>
          <a:p>
            <a:pPr marL="0" indent="0">
              <a:buNone/>
            </a:pPr>
            <a:r>
              <a:rPr lang="en-US" sz="3000" dirty="0">
                <a:latin typeface="Aptos" panose="020B0004020202020204" pitchFamily="34" charset="0"/>
              </a:rPr>
              <a:t>Manual follow-ups.</a:t>
            </a:r>
            <a:br>
              <a:rPr lang="en-US" sz="3000" dirty="0">
                <a:latin typeface="Aptos" panose="020B0004020202020204" pitchFamily="34" charset="0"/>
              </a:rPr>
            </a:br>
            <a:r>
              <a:rPr lang="en-US" sz="3000" dirty="0">
                <a:latin typeface="Aptos" panose="020B0004020202020204" pitchFamily="34" charset="0"/>
              </a:rPr>
              <a:t>Uncertain delivery progress.</a:t>
            </a:r>
          </a:p>
          <a:p>
            <a:pPr marL="0" indent="0">
              <a:buNone/>
            </a:pPr>
            <a:r>
              <a:rPr lang="en-US" sz="3000" b="1" dirty="0">
                <a:latin typeface="Aptos" panose="020B0004020202020204" pitchFamily="34" charset="0"/>
              </a:rPr>
              <a:t>Retailer → Dispatcher → Rider</a:t>
            </a:r>
            <a:endParaRPr lang="en-US" sz="3000" dirty="0">
              <a:latin typeface="Aptos" panose="020B0004020202020204" pitchFamily="34" charset="0"/>
            </a:endParaRPr>
          </a:p>
          <a:p>
            <a:endParaRPr lang="en-US" sz="3000" dirty="0">
              <a:latin typeface="Aptos" panose="020B0004020202020204" pitchFamily="34" charset="0"/>
            </a:endParaRPr>
          </a:p>
        </p:txBody>
      </p:sp>
    </p:spTree>
    <p:extLst>
      <p:ext uri="{BB962C8B-B14F-4D97-AF65-F5344CB8AC3E}">
        <p14:creationId xmlns:p14="http://schemas.microsoft.com/office/powerpoint/2010/main" val="213913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C9D8E-7BD0-BCD7-92FB-6BE8654C3A32}"/>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F6AEE5E1-5581-2BF1-2F58-B791FB088054}"/>
              </a:ext>
            </a:extLst>
          </p:cNvPr>
          <p:cNvSpPr>
            <a:spLocks noGrp="1"/>
          </p:cNvSpPr>
          <p:nvPr>
            <p:ph type="title"/>
          </p:nvPr>
        </p:nvSpPr>
        <p:spPr>
          <a:xfrm>
            <a:off x="1522413" y="381000"/>
            <a:ext cx="9144001" cy="990600"/>
          </a:xfrm>
        </p:spPr>
        <p:txBody>
          <a:bodyPr>
            <a:normAutofit/>
          </a:bodyPr>
          <a:lstStyle/>
          <a:p>
            <a:pPr algn="ctr"/>
            <a:r>
              <a:rPr lang="en-US" sz="4400" b="1" dirty="0">
                <a:solidFill>
                  <a:schemeClr val="accent1"/>
                </a:solidFill>
                <a:latin typeface="Aptos heading"/>
              </a:rPr>
              <a:t>THE SOLUTION</a:t>
            </a:r>
          </a:p>
        </p:txBody>
      </p:sp>
      <p:sp>
        <p:nvSpPr>
          <p:cNvPr id="14" name="Content Placeholder 13">
            <a:extLst>
              <a:ext uri="{FF2B5EF4-FFF2-40B4-BE49-F238E27FC236}">
                <a16:creationId xmlns:a16="http://schemas.microsoft.com/office/drawing/2014/main" id="{A09DAD96-0AE9-28A9-8038-D279316A9B1E}"/>
              </a:ext>
            </a:extLst>
          </p:cNvPr>
          <p:cNvSpPr>
            <a:spLocks noGrp="1"/>
          </p:cNvSpPr>
          <p:nvPr>
            <p:ph idx="1"/>
          </p:nvPr>
        </p:nvSpPr>
        <p:spPr>
          <a:xfrm>
            <a:off x="303212" y="1524000"/>
            <a:ext cx="11658600" cy="4953000"/>
          </a:xfrm>
        </p:spPr>
        <p:txBody>
          <a:bodyPr>
            <a:normAutofit/>
          </a:bodyPr>
          <a:lstStyle/>
          <a:p>
            <a:pPr marL="0" indent="0">
              <a:buNone/>
            </a:pPr>
            <a:r>
              <a:rPr lang="en-US" sz="3600" b="1" dirty="0">
                <a:latin typeface="Aptos" panose="020B0004020202020204" pitchFamily="34" charset="0"/>
              </a:rPr>
              <a:t>Reflex creates one trackable delivery workflow.</a:t>
            </a:r>
            <a:endParaRPr lang="en-US" sz="3600" dirty="0">
              <a:latin typeface="Aptos" panose="020B0004020202020204" pitchFamily="34" charset="0"/>
            </a:endParaRPr>
          </a:p>
          <a:p>
            <a:pPr marL="0" indent="0">
              <a:buNone/>
            </a:pPr>
            <a:r>
              <a:rPr lang="en-US" sz="3600" b="1" dirty="0">
                <a:latin typeface="Aptos" panose="020B0004020202020204" pitchFamily="34" charset="0"/>
              </a:rPr>
              <a:t>LOG → ASSIGN → UPDATE → CONFIRM</a:t>
            </a:r>
            <a:endParaRPr lang="en-US" sz="3600" dirty="0">
              <a:latin typeface="Aptos" panose="020B0004020202020204" pitchFamily="34" charset="0"/>
            </a:endParaRPr>
          </a:p>
          <a:p>
            <a:pPr marL="0" indent="0">
              <a:buNone/>
            </a:pPr>
            <a:r>
              <a:rPr lang="en-US" sz="3600" dirty="0">
                <a:latin typeface="Aptos" panose="020B0004020202020204" pitchFamily="34" charset="0"/>
              </a:rPr>
              <a:t>Retailer → Dispatcher → Rider</a:t>
            </a:r>
            <a:br>
              <a:rPr lang="en-US" sz="3600" dirty="0">
                <a:latin typeface="Aptos" panose="020B0004020202020204" pitchFamily="34" charset="0"/>
              </a:rPr>
            </a:br>
            <a:endParaRPr lang="en-US" sz="3600" dirty="0">
              <a:latin typeface="Aptos" panose="020B0004020202020204" pitchFamily="34" charset="0"/>
            </a:endParaRPr>
          </a:p>
          <a:p>
            <a:pPr marL="0" indent="0">
              <a:buNone/>
            </a:pPr>
            <a:r>
              <a:rPr lang="en-US" sz="3600" b="1" dirty="0">
                <a:latin typeface="Aptos" panose="020B0004020202020204" pitchFamily="34" charset="0"/>
              </a:rPr>
              <a:t>One shared delivery record</a:t>
            </a:r>
          </a:p>
          <a:p>
            <a:pPr marL="0" indent="0">
              <a:buNone/>
            </a:pPr>
            <a:r>
              <a:rPr lang="en-US" sz="3600" b="1" dirty="0">
                <a:latin typeface="Aptos" panose="020B0004020202020204" pitchFamily="34" charset="0"/>
              </a:rPr>
              <a:t>One record. One lifecycle. Clearer visibility.</a:t>
            </a:r>
            <a:endParaRPr lang="en-US" sz="3600" dirty="0">
              <a:latin typeface="Aptos" panose="020B0004020202020204" pitchFamily="34" charset="0"/>
            </a:endParaRPr>
          </a:p>
          <a:p>
            <a:endParaRPr lang="en-US" sz="3600" dirty="0">
              <a:latin typeface="Aptos" panose="020B0004020202020204" pitchFamily="34" charset="0"/>
            </a:endParaRPr>
          </a:p>
        </p:txBody>
      </p:sp>
    </p:spTree>
    <p:extLst>
      <p:ext uri="{BB962C8B-B14F-4D97-AF65-F5344CB8AC3E}">
        <p14:creationId xmlns:p14="http://schemas.microsoft.com/office/powerpoint/2010/main" val="436105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9614" y="0"/>
            <a:ext cx="8692399" cy="838199"/>
          </a:xfrm>
        </p:spPr>
        <p:txBody>
          <a:bodyPr/>
          <a:lstStyle/>
          <a:p>
            <a:pPr algn="r"/>
            <a:r>
              <a:rPr lang="en-US" dirty="0">
                <a:latin typeface="Aptos heading"/>
              </a:rPr>
              <a:t>HOW REFLEX WORKS</a:t>
            </a:r>
          </a:p>
        </p:txBody>
      </p:sp>
      <p:sp>
        <p:nvSpPr>
          <p:cNvPr id="3" name="Text Placeholder 2"/>
          <p:cNvSpPr>
            <a:spLocks noGrp="1"/>
          </p:cNvSpPr>
          <p:nvPr>
            <p:ph type="body" idx="1"/>
          </p:nvPr>
        </p:nvSpPr>
        <p:spPr>
          <a:xfrm>
            <a:off x="227012" y="838200"/>
            <a:ext cx="11810999" cy="5867400"/>
          </a:xfrm>
        </p:spPr>
        <p:txBody>
          <a:bodyPr>
            <a:noAutofit/>
          </a:bodyPr>
          <a:lstStyle/>
          <a:p>
            <a:r>
              <a:rPr lang="en-US" sz="2200" b="1" dirty="0">
                <a:latin typeface="Aptos" panose="020B0004020202020204" pitchFamily="34" charset="0"/>
              </a:rPr>
              <a:t>Retailer</a:t>
            </a:r>
            <a:br>
              <a:rPr lang="en-US" sz="2200" dirty="0">
                <a:latin typeface="Aptos" panose="020B0004020202020204" pitchFamily="34" charset="0"/>
              </a:rPr>
            </a:br>
            <a:r>
              <a:rPr lang="en-US" sz="2200" dirty="0">
                <a:latin typeface="Aptos" panose="020B0004020202020204" pitchFamily="34" charset="0"/>
              </a:rPr>
              <a:t>↓</a:t>
            </a:r>
            <a:br>
              <a:rPr lang="en-US" sz="2200" dirty="0">
                <a:latin typeface="Aptos" panose="020B0004020202020204" pitchFamily="34" charset="0"/>
              </a:rPr>
            </a:br>
            <a:r>
              <a:rPr lang="en-US" sz="2200" b="1" dirty="0">
                <a:latin typeface="Aptos" panose="020B0004020202020204" pitchFamily="34" charset="0"/>
              </a:rPr>
              <a:t>Log Delivery</a:t>
            </a:r>
            <a:br>
              <a:rPr lang="en-US" sz="2200" dirty="0">
                <a:latin typeface="Aptos" panose="020B0004020202020204" pitchFamily="34" charset="0"/>
              </a:rPr>
            </a:br>
            <a:r>
              <a:rPr lang="en-US" sz="2200" dirty="0">
                <a:latin typeface="Aptos" panose="020B0004020202020204" pitchFamily="34" charset="0"/>
              </a:rPr>
              <a:t>↓</a:t>
            </a:r>
            <a:br>
              <a:rPr lang="en-US" sz="2200" dirty="0">
                <a:latin typeface="Aptos" panose="020B0004020202020204" pitchFamily="34" charset="0"/>
              </a:rPr>
            </a:br>
            <a:r>
              <a:rPr lang="en-US" sz="2200" b="1" dirty="0">
                <a:latin typeface="Aptos" panose="020B0004020202020204" pitchFamily="34" charset="0"/>
              </a:rPr>
              <a:t>Dispatcher</a:t>
            </a:r>
            <a:br>
              <a:rPr lang="en-US" sz="2200" dirty="0">
                <a:latin typeface="Aptos" panose="020B0004020202020204" pitchFamily="34" charset="0"/>
              </a:rPr>
            </a:br>
            <a:r>
              <a:rPr lang="en-US" sz="2200" dirty="0">
                <a:latin typeface="Aptos" panose="020B0004020202020204" pitchFamily="34" charset="0"/>
              </a:rPr>
              <a:t>↓</a:t>
            </a:r>
            <a:br>
              <a:rPr lang="en-US" sz="2200" dirty="0">
                <a:latin typeface="Aptos" panose="020B0004020202020204" pitchFamily="34" charset="0"/>
              </a:rPr>
            </a:br>
            <a:r>
              <a:rPr lang="en-US" sz="2200" b="1" dirty="0">
                <a:latin typeface="Aptos" panose="020B0004020202020204" pitchFamily="34" charset="0"/>
              </a:rPr>
              <a:t>Assign Rider</a:t>
            </a:r>
            <a:br>
              <a:rPr lang="en-US" sz="2200" dirty="0">
                <a:latin typeface="Aptos" panose="020B0004020202020204" pitchFamily="34" charset="0"/>
              </a:rPr>
            </a:br>
            <a:r>
              <a:rPr lang="en-US" sz="2200" dirty="0">
                <a:latin typeface="Aptos" panose="020B0004020202020204" pitchFamily="34" charset="0"/>
              </a:rPr>
              <a:t>↓</a:t>
            </a:r>
            <a:br>
              <a:rPr lang="en-US" sz="2200" dirty="0">
                <a:latin typeface="Aptos" panose="020B0004020202020204" pitchFamily="34" charset="0"/>
              </a:rPr>
            </a:br>
            <a:r>
              <a:rPr lang="en-US" sz="2200" b="1" dirty="0">
                <a:latin typeface="Aptos" panose="020B0004020202020204" pitchFamily="34" charset="0"/>
              </a:rPr>
              <a:t>Rider</a:t>
            </a:r>
            <a:br>
              <a:rPr lang="en-US" sz="2200" dirty="0">
                <a:latin typeface="Aptos" panose="020B0004020202020204" pitchFamily="34" charset="0"/>
              </a:rPr>
            </a:br>
            <a:r>
              <a:rPr lang="en-US" sz="2200" dirty="0">
                <a:latin typeface="Aptos" panose="020B0004020202020204" pitchFamily="34" charset="0"/>
              </a:rPr>
              <a:t>↓</a:t>
            </a:r>
            <a:br>
              <a:rPr lang="en-US" sz="2200" dirty="0">
                <a:latin typeface="Aptos" panose="020B0004020202020204" pitchFamily="34" charset="0"/>
              </a:rPr>
            </a:br>
            <a:r>
              <a:rPr lang="en-US" sz="2200" b="1" dirty="0">
                <a:latin typeface="Aptos" panose="020B0004020202020204" pitchFamily="34" charset="0"/>
              </a:rPr>
              <a:t>Update Status</a:t>
            </a:r>
            <a:br>
              <a:rPr lang="en-US" sz="2200" dirty="0">
                <a:latin typeface="Aptos" panose="020B0004020202020204" pitchFamily="34" charset="0"/>
              </a:rPr>
            </a:br>
            <a:r>
              <a:rPr lang="en-US" sz="2200" dirty="0">
                <a:latin typeface="Aptos" panose="020B0004020202020204" pitchFamily="34" charset="0"/>
              </a:rPr>
              <a:t>↓</a:t>
            </a:r>
            <a:br>
              <a:rPr lang="en-US" sz="2200" dirty="0">
                <a:latin typeface="Aptos" panose="020B0004020202020204" pitchFamily="34" charset="0"/>
              </a:rPr>
            </a:br>
            <a:r>
              <a:rPr lang="en-US" sz="2200" b="1" dirty="0">
                <a:latin typeface="Aptos" panose="020B0004020202020204" pitchFamily="34" charset="0"/>
              </a:rPr>
              <a:t>Confirm Delivery</a:t>
            </a:r>
            <a:br>
              <a:rPr lang="en-US" sz="2200" dirty="0">
                <a:latin typeface="Aptos" panose="020B0004020202020204" pitchFamily="34" charset="0"/>
              </a:rPr>
            </a:br>
            <a:r>
              <a:rPr lang="en-US" sz="2200" dirty="0">
                <a:latin typeface="Aptos" panose="020B0004020202020204" pitchFamily="34" charset="0"/>
              </a:rPr>
              <a:t>↓</a:t>
            </a:r>
            <a:br>
              <a:rPr lang="en-US" sz="2200" dirty="0">
                <a:latin typeface="Aptos" panose="020B0004020202020204" pitchFamily="34" charset="0"/>
              </a:rPr>
            </a:br>
            <a:r>
              <a:rPr lang="en-US" sz="2200" b="1" dirty="0">
                <a:latin typeface="Aptos" panose="020B0004020202020204" pitchFamily="34" charset="0"/>
              </a:rPr>
              <a:t>DELIVERED</a:t>
            </a:r>
          </a:p>
          <a:p>
            <a:endParaRPr lang="en-US" sz="2200" dirty="0">
              <a:latin typeface="Aptos" panose="020B0004020202020204" pitchFamily="34" charset="0"/>
            </a:endParaRPr>
          </a:p>
          <a:p>
            <a:r>
              <a:rPr lang="en-US" sz="2200" b="1" dirty="0">
                <a:latin typeface="Aptos" panose="020B0004020202020204" pitchFamily="34" charset="0"/>
              </a:rPr>
              <a:t>Delivery lifecycle</a:t>
            </a:r>
          </a:p>
          <a:p>
            <a:endParaRPr lang="en-US" sz="2200" b="1" dirty="0">
              <a:latin typeface="Aptos" panose="020B0004020202020204" pitchFamily="34" charset="0"/>
            </a:endParaRPr>
          </a:p>
          <a:p>
            <a:r>
              <a:rPr lang="en-US" sz="2200" b="1" dirty="0">
                <a:latin typeface="Aptos" panose="020B0004020202020204" pitchFamily="34" charset="0"/>
              </a:rPr>
              <a:t>Pending → Assigned → Picked Up → Delivered</a:t>
            </a:r>
            <a:endParaRPr lang="en-US" sz="2200" dirty="0">
              <a:latin typeface="Aptos" panose="020B0004020202020204" pitchFamily="34" charset="0"/>
            </a:endParaRPr>
          </a:p>
          <a:p>
            <a:endParaRPr lang="en-US" sz="2200" dirty="0">
              <a:latin typeface="Aptos" panose="020B0004020202020204" pitchFamily="34" charset="0"/>
            </a:endParaRPr>
          </a:p>
        </p:txBody>
      </p:sp>
    </p:spTree>
    <p:extLst>
      <p:ext uri="{BB962C8B-B14F-4D97-AF65-F5344CB8AC3E}">
        <p14:creationId xmlns:p14="http://schemas.microsoft.com/office/powerpoint/2010/main" val="247816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FC9DC-0D9B-B2F5-D978-B06C0BB85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4A8B4-2979-56DE-4682-83F1067E48CE}"/>
              </a:ext>
            </a:extLst>
          </p:cNvPr>
          <p:cNvSpPr>
            <a:spLocks noGrp="1"/>
          </p:cNvSpPr>
          <p:nvPr>
            <p:ph type="title"/>
          </p:nvPr>
        </p:nvSpPr>
        <p:spPr>
          <a:xfrm>
            <a:off x="1059614" y="152400"/>
            <a:ext cx="8692399" cy="1066800"/>
          </a:xfrm>
        </p:spPr>
        <p:txBody>
          <a:bodyPr/>
          <a:lstStyle/>
          <a:p>
            <a:pPr algn="ctr"/>
            <a:r>
              <a:rPr lang="en-US" b="1" dirty="0">
                <a:latin typeface="Aptos heading"/>
              </a:rPr>
              <a:t>ARCHITECTURE</a:t>
            </a:r>
          </a:p>
        </p:txBody>
      </p:sp>
      <p:sp>
        <p:nvSpPr>
          <p:cNvPr id="3" name="Text Placeholder 2">
            <a:extLst>
              <a:ext uri="{FF2B5EF4-FFF2-40B4-BE49-F238E27FC236}">
                <a16:creationId xmlns:a16="http://schemas.microsoft.com/office/drawing/2014/main" id="{D60DF0D6-8CC7-4178-0214-13E03291DA23}"/>
              </a:ext>
            </a:extLst>
          </p:cNvPr>
          <p:cNvSpPr>
            <a:spLocks noGrp="1"/>
          </p:cNvSpPr>
          <p:nvPr>
            <p:ph type="body" idx="1"/>
          </p:nvPr>
        </p:nvSpPr>
        <p:spPr>
          <a:xfrm>
            <a:off x="227012" y="1066800"/>
            <a:ext cx="11810999" cy="5638800"/>
          </a:xfrm>
        </p:spPr>
        <p:txBody>
          <a:bodyPr>
            <a:normAutofit lnSpcReduction="10000"/>
          </a:bodyPr>
          <a:lstStyle/>
          <a:p>
            <a:r>
              <a:rPr lang="en-US" sz="3200" b="1" dirty="0">
                <a:solidFill>
                  <a:schemeClr val="accent5"/>
                </a:solidFill>
                <a:latin typeface="Aptos" panose="020B0004020202020204" pitchFamily="34" charset="0"/>
              </a:rPr>
              <a:t>STACK</a:t>
            </a:r>
          </a:p>
          <a:p>
            <a:r>
              <a:rPr lang="en-US" sz="3200" b="1" dirty="0">
                <a:latin typeface="Aptos" panose="020B0004020202020204" pitchFamily="34" charset="0"/>
              </a:rPr>
              <a:t>Node.js + JavaScript CLI</a:t>
            </a:r>
            <a:br>
              <a:rPr lang="en-US" sz="3200" dirty="0">
                <a:latin typeface="Aptos" panose="020B0004020202020204" pitchFamily="34" charset="0"/>
              </a:rPr>
            </a:br>
            <a:r>
              <a:rPr lang="en-US" sz="3200" dirty="0">
                <a:latin typeface="Aptos" panose="020B0004020202020204" pitchFamily="34" charset="0"/>
              </a:rPr>
              <a:t>No external dependencies</a:t>
            </a:r>
          </a:p>
          <a:p>
            <a:endParaRPr lang="en-US" sz="3200" b="1" dirty="0">
              <a:latin typeface="Aptos" panose="020B0004020202020204" pitchFamily="34" charset="0"/>
            </a:endParaRPr>
          </a:p>
          <a:p>
            <a:r>
              <a:rPr lang="en-US" sz="3200" b="1" dirty="0">
                <a:solidFill>
                  <a:schemeClr val="accent5"/>
                </a:solidFill>
                <a:latin typeface="Aptos" panose="020B0004020202020204" pitchFamily="34" charset="0"/>
              </a:rPr>
              <a:t>STORAGE</a:t>
            </a:r>
          </a:p>
          <a:p>
            <a:r>
              <a:rPr lang="en-US" sz="3200" b="1" dirty="0">
                <a:latin typeface="Aptos" panose="020B0004020202020204" pitchFamily="34" charset="0"/>
              </a:rPr>
              <a:t>Shared JSON file</a:t>
            </a:r>
            <a:br>
              <a:rPr lang="en-US" sz="3200" dirty="0">
                <a:latin typeface="Aptos" panose="020B0004020202020204" pitchFamily="34" charset="0"/>
              </a:rPr>
            </a:br>
            <a:r>
              <a:rPr lang="en-US" sz="3200" dirty="0">
                <a:latin typeface="Aptos" panose="020B0004020202020204" pitchFamily="34" charset="0"/>
              </a:rPr>
              <a:t>Single source of truth</a:t>
            </a:r>
          </a:p>
          <a:p>
            <a:endParaRPr lang="en-US" sz="3200" b="1" dirty="0">
              <a:latin typeface="Aptos" panose="020B0004020202020204" pitchFamily="34" charset="0"/>
            </a:endParaRPr>
          </a:p>
          <a:p>
            <a:r>
              <a:rPr lang="en-US" sz="3200" b="1" dirty="0">
                <a:solidFill>
                  <a:schemeClr val="accent5"/>
                </a:solidFill>
                <a:latin typeface="Aptos" panose="020B0004020202020204" pitchFamily="34" charset="0"/>
              </a:rPr>
              <a:t>DATA MODEL</a:t>
            </a:r>
          </a:p>
          <a:p>
            <a:r>
              <a:rPr lang="en-US" sz="3200" b="1" dirty="0">
                <a:latin typeface="Aptos" panose="020B0004020202020204" pitchFamily="34" charset="0"/>
              </a:rPr>
              <a:t>ID • Customer • Item • Status • Rider • Timestamps</a:t>
            </a:r>
            <a:endParaRPr lang="en-US" sz="3200" dirty="0">
              <a:latin typeface="Aptos" panose="020B0004020202020204" pitchFamily="34" charset="0"/>
            </a:endParaRPr>
          </a:p>
          <a:p>
            <a:endParaRPr lang="en-US" sz="3200" b="1" dirty="0">
              <a:latin typeface="Aptos" panose="020B0004020202020204" pitchFamily="34" charset="0"/>
            </a:endParaRPr>
          </a:p>
          <a:p>
            <a:r>
              <a:rPr lang="en-US" sz="3200" b="1" dirty="0">
                <a:solidFill>
                  <a:schemeClr val="accent5"/>
                </a:solidFill>
                <a:latin typeface="Aptos" panose="020B0004020202020204" pitchFamily="34" charset="0"/>
              </a:rPr>
              <a:t>LIFECYCLE</a:t>
            </a:r>
          </a:p>
          <a:p>
            <a:r>
              <a:rPr lang="en-US" sz="3200" b="1" dirty="0">
                <a:latin typeface="Aptos" panose="020B0004020202020204" pitchFamily="34" charset="0"/>
              </a:rPr>
              <a:t>Pending → Assigned → Picked Up → Delivered</a:t>
            </a:r>
            <a:endParaRPr lang="en-US" sz="3200" dirty="0">
              <a:latin typeface="Aptos" panose="020B0004020202020204" pitchFamily="34" charset="0"/>
            </a:endParaRPr>
          </a:p>
          <a:p>
            <a:r>
              <a:rPr lang="en-US" sz="3200" b="1" dirty="0">
                <a:latin typeface="Aptos" panose="020B0004020202020204" pitchFamily="34" charset="0"/>
              </a:rPr>
              <a:t>Forward-only status transitions</a:t>
            </a:r>
            <a:endParaRPr lang="en-US" sz="3200" dirty="0">
              <a:latin typeface="Aptos" panose="020B0004020202020204" pitchFamily="34" charset="0"/>
            </a:endParaRPr>
          </a:p>
          <a:p>
            <a:endParaRPr lang="en-US" sz="3200" dirty="0">
              <a:latin typeface="Aptos" panose="020B0004020202020204" pitchFamily="34" charset="0"/>
            </a:endParaRPr>
          </a:p>
          <a:p>
            <a:endParaRPr lang="en-US" sz="3200" dirty="0">
              <a:latin typeface="Aptos" panose="020B0004020202020204" pitchFamily="34" charset="0"/>
            </a:endParaRPr>
          </a:p>
          <a:p>
            <a:r>
              <a:rPr lang="en-US" sz="3200" b="1" dirty="0">
                <a:solidFill>
                  <a:schemeClr val="accent5"/>
                </a:solidFill>
                <a:latin typeface="Aptos" panose="020B0004020202020204" pitchFamily="34" charset="0"/>
              </a:rPr>
              <a:t>STATUS</a:t>
            </a:r>
          </a:p>
          <a:p>
            <a:r>
              <a:rPr lang="en-US" sz="3200" b="1" dirty="0">
                <a:latin typeface="Aptos" panose="020B0004020202020204" pitchFamily="34" charset="0"/>
              </a:rPr>
              <a:t>Sprint MVP — not production-ready (see Roadmap)</a:t>
            </a:r>
            <a:endParaRPr lang="en-US" sz="3200" dirty="0">
              <a:latin typeface="Aptos" panose="020B0004020202020204" pitchFamily="34" charset="0"/>
            </a:endParaRPr>
          </a:p>
        </p:txBody>
      </p:sp>
    </p:spTree>
    <p:extLst>
      <p:ext uri="{BB962C8B-B14F-4D97-AF65-F5344CB8AC3E}">
        <p14:creationId xmlns:p14="http://schemas.microsoft.com/office/powerpoint/2010/main" val="37458341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3" y="152400"/>
            <a:ext cx="9144001" cy="685800"/>
          </a:xfrm>
        </p:spPr>
        <p:txBody>
          <a:bodyPr>
            <a:normAutofit/>
          </a:bodyPr>
          <a:lstStyle/>
          <a:p>
            <a:pPr algn="ctr"/>
            <a:r>
              <a:rPr lang="en-US" sz="4000" b="1" dirty="0">
                <a:solidFill>
                  <a:schemeClr val="accent1"/>
                </a:solidFill>
                <a:latin typeface="Aptos heading"/>
              </a:rPr>
              <a:t>TRADE-OFFS</a:t>
            </a:r>
          </a:p>
        </p:txBody>
      </p:sp>
      <p:sp>
        <p:nvSpPr>
          <p:cNvPr id="5" name="TextBox 4">
            <a:extLst>
              <a:ext uri="{FF2B5EF4-FFF2-40B4-BE49-F238E27FC236}">
                <a16:creationId xmlns:a16="http://schemas.microsoft.com/office/drawing/2014/main" id="{0086E377-6569-41E7-62D2-44E0D1CB9CF6}"/>
              </a:ext>
            </a:extLst>
          </p:cNvPr>
          <p:cNvSpPr txBox="1"/>
          <p:nvPr/>
        </p:nvSpPr>
        <p:spPr>
          <a:xfrm>
            <a:off x="-16828" y="838200"/>
            <a:ext cx="12205653" cy="6370975"/>
          </a:xfrm>
          <a:prstGeom prst="rect">
            <a:avLst/>
          </a:prstGeom>
          <a:noFill/>
        </p:spPr>
        <p:txBody>
          <a:bodyPr wrap="square" rtlCol="0">
            <a:spAutoFit/>
          </a:bodyPr>
          <a:lstStyle/>
          <a:p>
            <a:r>
              <a:rPr lang="en-US" sz="2400" b="1" dirty="0">
                <a:solidFill>
                  <a:schemeClr val="accent5"/>
                </a:solidFill>
                <a:latin typeface="Aptos" panose="020B0004020202020204" pitchFamily="34" charset="0"/>
              </a:rPr>
              <a:t>01 — CONFIRMATION</a:t>
            </a:r>
          </a:p>
          <a:p>
            <a:r>
              <a:rPr lang="en-US" sz="2400" b="1" dirty="0">
                <a:latin typeface="Aptos" panose="020B0004020202020204" pitchFamily="34" charset="0"/>
              </a:rPr>
              <a:t>Typed code instead of scanning</a:t>
            </a:r>
            <a:endParaRPr lang="en-US" sz="2400" dirty="0">
              <a:latin typeface="Aptos" panose="020B0004020202020204" pitchFamily="34" charset="0"/>
            </a:endParaRPr>
          </a:p>
          <a:p>
            <a:r>
              <a:rPr lang="en-US" sz="2400" dirty="0">
                <a:latin typeface="Aptos" panose="020B0004020202020204" pitchFamily="34" charset="0"/>
              </a:rPr>
              <a:t>CLI has no camera or QR-scanning capability.</a:t>
            </a:r>
          </a:p>
          <a:p>
            <a:endParaRPr lang="en-US" sz="2400" b="1" dirty="0">
              <a:latin typeface="Aptos" panose="020B0004020202020204" pitchFamily="34" charset="0"/>
            </a:endParaRPr>
          </a:p>
          <a:p>
            <a:r>
              <a:rPr lang="en-US" sz="2400" b="1" dirty="0">
                <a:solidFill>
                  <a:schemeClr val="accent5"/>
                </a:solidFill>
                <a:latin typeface="Aptos" panose="020B0004020202020204" pitchFamily="34" charset="0"/>
              </a:rPr>
              <a:t>02 — SYNC</a:t>
            </a:r>
          </a:p>
          <a:p>
            <a:r>
              <a:rPr lang="en-US" sz="2400" b="1" dirty="0">
                <a:latin typeface="Aptos" panose="020B0004020202020204" pitchFamily="34" charset="0"/>
              </a:rPr>
              <a:t>Checkpoint instead of real-time</a:t>
            </a:r>
            <a:endParaRPr lang="en-US" sz="2400" dirty="0">
              <a:latin typeface="Aptos" panose="020B0004020202020204" pitchFamily="34" charset="0"/>
            </a:endParaRPr>
          </a:p>
          <a:p>
            <a:r>
              <a:rPr lang="en-US" sz="2400" dirty="0">
                <a:latin typeface="Aptos" panose="020B0004020202020204" pitchFamily="34" charset="0"/>
              </a:rPr>
              <a:t>Detects changes since the previous sync.</a:t>
            </a:r>
          </a:p>
          <a:p>
            <a:endParaRPr lang="en-US" sz="2400" b="1" dirty="0">
              <a:latin typeface="Aptos" panose="020B0004020202020204" pitchFamily="34" charset="0"/>
            </a:endParaRPr>
          </a:p>
          <a:p>
            <a:r>
              <a:rPr lang="en-US" sz="2400" b="1" dirty="0">
                <a:solidFill>
                  <a:schemeClr val="accent5"/>
                </a:solidFill>
                <a:latin typeface="Aptos" panose="020B0004020202020204" pitchFamily="34" charset="0"/>
              </a:rPr>
              <a:t>03 — STORAGE</a:t>
            </a:r>
          </a:p>
          <a:p>
            <a:r>
              <a:rPr lang="en-US" sz="2400" b="1" dirty="0">
                <a:latin typeface="Aptos" panose="020B0004020202020204" pitchFamily="34" charset="0"/>
              </a:rPr>
              <a:t>JSON instead of database</a:t>
            </a:r>
            <a:endParaRPr lang="en-US" sz="2400" dirty="0">
              <a:latin typeface="Aptos" panose="020B0004020202020204" pitchFamily="34" charset="0"/>
            </a:endParaRPr>
          </a:p>
          <a:p>
            <a:r>
              <a:rPr lang="en-US" sz="2400" dirty="0">
                <a:latin typeface="Aptos" panose="020B0004020202020204" pitchFamily="34" charset="0"/>
              </a:rPr>
              <a:t>Fast and simple for the sprint MVP.</a:t>
            </a:r>
          </a:p>
          <a:p>
            <a:endParaRPr lang="en-US" sz="2400" b="1" dirty="0">
              <a:latin typeface="Aptos" panose="020B0004020202020204" pitchFamily="34" charset="0"/>
            </a:endParaRPr>
          </a:p>
          <a:p>
            <a:r>
              <a:rPr lang="en-US" sz="2400" b="1" dirty="0">
                <a:solidFill>
                  <a:schemeClr val="accent5"/>
                </a:solidFill>
                <a:latin typeface="Aptos" panose="020B0004020202020204" pitchFamily="34" charset="0"/>
              </a:rPr>
              <a:t>04 — REASSIGNMENT</a:t>
            </a:r>
          </a:p>
          <a:p>
            <a:r>
              <a:rPr lang="en-US" sz="2400" b="1" dirty="0">
                <a:latin typeface="Aptos" panose="020B0004020202020204" pitchFamily="34" charset="0"/>
              </a:rPr>
              <a:t>Warn instead of block</a:t>
            </a:r>
            <a:endParaRPr lang="en-US" sz="2400" dirty="0">
              <a:latin typeface="Aptos" panose="020B0004020202020204" pitchFamily="34" charset="0"/>
            </a:endParaRPr>
          </a:p>
          <a:p>
            <a:r>
              <a:rPr lang="en-US" sz="2400" dirty="0">
                <a:latin typeface="Aptos" panose="020B0004020202020204" pitchFamily="34" charset="0"/>
              </a:rPr>
              <a:t>Makes conflicting reassignment visible but allows it.</a:t>
            </a:r>
          </a:p>
          <a:p>
            <a:r>
              <a:rPr lang="en-US" sz="2400" b="1" dirty="0">
                <a:latin typeface="Aptos" panose="020B0004020202020204" pitchFamily="34" charset="0"/>
              </a:rPr>
              <a:t>Intentional simplifications for the sprint MVP</a:t>
            </a:r>
            <a:endParaRPr lang="en-US" sz="2400" dirty="0">
              <a:latin typeface="Aptos" panose="020B0004020202020204" pitchFamily="34" charset="0"/>
            </a:endParaRPr>
          </a:p>
          <a:p>
            <a:endParaRPr lang="en-US" sz="2400" dirty="0">
              <a:latin typeface="Aptos" panose="020B0004020202020204" pitchFamily="34" charset="0"/>
            </a:endParaRPr>
          </a:p>
        </p:txBody>
      </p:sp>
    </p:spTree>
    <p:extLst>
      <p:ext uri="{BB962C8B-B14F-4D97-AF65-F5344CB8AC3E}">
        <p14:creationId xmlns:p14="http://schemas.microsoft.com/office/powerpoint/2010/main" val="259050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B30F9-17C4-9B2E-92C4-54FDCA929112}"/>
              </a:ext>
            </a:extLst>
          </p:cNvPr>
          <p:cNvSpPr>
            <a:spLocks noGrp="1"/>
          </p:cNvSpPr>
          <p:nvPr>
            <p:ph type="title"/>
          </p:nvPr>
        </p:nvSpPr>
        <p:spPr>
          <a:xfrm>
            <a:off x="150812" y="152400"/>
            <a:ext cx="11811000" cy="838200"/>
          </a:xfrm>
        </p:spPr>
        <p:txBody>
          <a:bodyPr/>
          <a:lstStyle/>
          <a:p>
            <a:pPr algn="ctr"/>
            <a:r>
              <a:rPr lang="en-US" b="1" dirty="0">
                <a:latin typeface="Aptos heading"/>
              </a:rPr>
              <a:t>ROADMAP</a:t>
            </a:r>
          </a:p>
        </p:txBody>
      </p:sp>
      <p:sp>
        <p:nvSpPr>
          <p:cNvPr id="3" name="Text Placeholder 2">
            <a:extLst>
              <a:ext uri="{FF2B5EF4-FFF2-40B4-BE49-F238E27FC236}">
                <a16:creationId xmlns:a16="http://schemas.microsoft.com/office/drawing/2014/main" id="{CAD71448-FDEC-8D48-84EC-C43E143B9C35}"/>
              </a:ext>
            </a:extLst>
          </p:cNvPr>
          <p:cNvSpPr>
            <a:spLocks noGrp="1"/>
          </p:cNvSpPr>
          <p:nvPr>
            <p:ph type="body" idx="1"/>
          </p:nvPr>
        </p:nvSpPr>
        <p:spPr>
          <a:xfrm>
            <a:off x="379412" y="990600"/>
            <a:ext cx="11582399" cy="5638800"/>
          </a:xfrm>
        </p:spPr>
        <p:txBody>
          <a:bodyPr>
            <a:noAutofit/>
          </a:bodyPr>
          <a:lstStyle/>
          <a:p>
            <a:r>
              <a:rPr lang="en-US" sz="2800" b="1" dirty="0">
                <a:latin typeface="Aptos "/>
              </a:rPr>
              <a:t>NOW</a:t>
            </a:r>
          </a:p>
          <a:p>
            <a:r>
              <a:rPr lang="en-US" sz="2800" b="1" dirty="0">
                <a:latin typeface="Aptos "/>
              </a:rPr>
              <a:t>CLI MVP</a:t>
            </a:r>
            <a:endParaRPr lang="en-US" sz="2800" dirty="0">
              <a:latin typeface="Aptos "/>
            </a:endParaRPr>
          </a:p>
          <a:p>
            <a:r>
              <a:rPr lang="en-US" sz="2800" dirty="0">
                <a:latin typeface="Aptos "/>
              </a:rPr>
              <a:t>Log • Assign • Update • Confirm</a:t>
            </a:r>
          </a:p>
          <a:p>
            <a:r>
              <a:rPr lang="en-US" sz="2800" dirty="0">
                <a:latin typeface="Aptos "/>
              </a:rPr>
              <a:t>↓</a:t>
            </a:r>
          </a:p>
          <a:p>
            <a:r>
              <a:rPr lang="en-US" sz="2800" b="1" dirty="0">
                <a:latin typeface="Aptos "/>
              </a:rPr>
              <a:t>NEXT</a:t>
            </a:r>
          </a:p>
          <a:p>
            <a:r>
              <a:rPr lang="en-US" sz="2800" b="1" dirty="0">
                <a:latin typeface="Aptos "/>
              </a:rPr>
              <a:t>Production Foundation</a:t>
            </a:r>
            <a:endParaRPr lang="en-US" sz="2800" dirty="0">
              <a:latin typeface="Aptos "/>
            </a:endParaRPr>
          </a:p>
          <a:p>
            <a:r>
              <a:rPr lang="en-US" sz="2800" dirty="0">
                <a:latin typeface="Aptos "/>
              </a:rPr>
              <a:t>Database • API • Authentication • Reliable Sync</a:t>
            </a:r>
          </a:p>
          <a:p>
            <a:r>
              <a:rPr lang="en-US" sz="2800" dirty="0">
                <a:latin typeface="Aptos "/>
              </a:rPr>
              <a:t>↓</a:t>
            </a:r>
          </a:p>
          <a:p>
            <a:r>
              <a:rPr lang="en-US" sz="2800" b="1" dirty="0">
                <a:latin typeface="Aptos "/>
              </a:rPr>
              <a:t>LATER</a:t>
            </a:r>
          </a:p>
          <a:p>
            <a:r>
              <a:rPr lang="en-US" sz="2800" b="1" dirty="0">
                <a:latin typeface="Aptos "/>
              </a:rPr>
              <a:t>Richer Delivery Visibility</a:t>
            </a:r>
            <a:endParaRPr lang="en-US" sz="2800" dirty="0">
              <a:latin typeface="Aptos "/>
            </a:endParaRPr>
          </a:p>
          <a:p>
            <a:r>
              <a:rPr lang="en-US" sz="2800" dirty="0">
                <a:latin typeface="Aptos "/>
              </a:rPr>
              <a:t>GPS • Proof of Delivery • Notifications • Analytics</a:t>
            </a:r>
          </a:p>
          <a:p>
            <a:br>
              <a:rPr lang="en-US" sz="2800" dirty="0">
                <a:latin typeface="Aptos "/>
              </a:rPr>
            </a:br>
            <a:endParaRPr lang="en-US" sz="2800" dirty="0">
              <a:latin typeface="Aptos "/>
            </a:endParaRPr>
          </a:p>
          <a:p>
            <a:r>
              <a:rPr lang="en-US" sz="2800" b="1" dirty="0">
                <a:latin typeface="Aptos "/>
              </a:rPr>
              <a:t>MVP workflow → Production platform → Richer visibility</a:t>
            </a:r>
            <a:endParaRPr lang="en-US" sz="2800" dirty="0">
              <a:latin typeface="Aptos "/>
            </a:endParaRPr>
          </a:p>
          <a:p>
            <a:endParaRPr lang="en-US" sz="2800" dirty="0">
              <a:latin typeface="Aptos "/>
            </a:endParaRPr>
          </a:p>
        </p:txBody>
      </p:sp>
    </p:spTree>
    <p:extLst>
      <p:ext uri="{BB962C8B-B14F-4D97-AF65-F5344CB8AC3E}">
        <p14:creationId xmlns:p14="http://schemas.microsoft.com/office/powerpoint/2010/main" val="276723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5BA32F-A2FC-F591-4967-6E518511E933}"/>
              </a:ext>
            </a:extLst>
          </p:cNvPr>
          <p:cNvSpPr txBox="1"/>
          <p:nvPr/>
        </p:nvSpPr>
        <p:spPr>
          <a:xfrm>
            <a:off x="150812" y="381000"/>
            <a:ext cx="11811000" cy="6247864"/>
          </a:xfrm>
          <a:prstGeom prst="rect">
            <a:avLst/>
          </a:prstGeom>
          <a:noFill/>
        </p:spPr>
        <p:txBody>
          <a:bodyPr wrap="square" rtlCol="0">
            <a:spAutoFit/>
          </a:bodyPr>
          <a:lstStyle/>
          <a:p>
            <a:pPr algn="ctr"/>
            <a:r>
              <a:rPr lang="en-US" sz="4800" b="1" dirty="0">
                <a:solidFill>
                  <a:schemeClr val="accent1"/>
                </a:solidFill>
                <a:latin typeface="Aptos" panose="020B0004020202020204" pitchFamily="34" charset="0"/>
              </a:rPr>
              <a:t>TAKEAWAY</a:t>
            </a:r>
          </a:p>
          <a:p>
            <a:pPr algn="ctr"/>
            <a:endParaRPr lang="en-US" sz="4400" b="1" dirty="0">
              <a:latin typeface="Aptos" panose="020B0004020202020204" pitchFamily="34" charset="0"/>
            </a:endParaRPr>
          </a:p>
          <a:p>
            <a:r>
              <a:rPr lang="en-US" sz="4400" b="1" dirty="0">
                <a:latin typeface="Aptos" panose="020B0004020202020204" pitchFamily="34" charset="0"/>
              </a:rPr>
              <a:t>Reflex turns fragmented delivery coordination</a:t>
            </a:r>
          </a:p>
          <a:p>
            <a:r>
              <a:rPr lang="en-US" sz="4400" b="1" dirty="0">
                <a:latin typeface="Aptos" panose="020B0004020202020204" pitchFamily="34" charset="0"/>
              </a:rPr>
              <a:t>into a visible, trackable workflow.</a:t>
            </a:r>
          </a:p>
          <a:p>
            <a:r>
              <a:rPr lang="en-US" sz="4400" b="1" dirty="0">
                <a:latin typeface="Aptos" panose="020B0004020202020204" pitchFamily="34" charset="0"/>
              </a:rPr>
              <a:t>Retailer → Dispatcher → Rider</a:t>
            </a:r>
            <a:endParaRPr lang="en-US" sz="4400" dirty="0">
              <a:latin typeface="Aptos" panose="020B0004020202020204" pitchFamily="34" charset="0"/>
            </a:endParaRPr>
          </a:p>
          <a:p>
            <a:br>
              <a:rPr lang="en-US" sz="4400" dirty="0">
                <a:latin typeface="Aptos" panose="020B0004020202020204" pitchFamily="34" charset="0"/>
              </a:rPr>
            </a:br>
            <a:endParaRPr lang="en-US" sz="4400" dirty="0">
              <a:latin typeface="Aptos" panose="020B0004020202020204" pitchFamily="34" charset="0"/>
            </a:endParaRPr>
          </a:p>
          <a:p>
            <a:r>
              <a:rPr lang="en-US" sz="4400" b="1" dirty="0">
                <a:latin typeface="Aptos" panose="020B0004020202020204" pitchFamily="34" charset="0"/>
              </a:rPr>
              <a:t>One record. One lifecycle. Clearer visibility.</a:t>
            </a:r>
            <a:endParaRPr lang="en-US" sz="4400" dirty="0">
              <a:latin typeface="Aptos" panose="020B0004020202020204" pitchFamily="34" charset="0"/>
            </a:endParaRPr>
          </a:p>
          <a:p>
            <a:endParaRPr lang="en-US" sz="4400" dirty="0">
              <a:latin typeface="Aptos" panose="020B0004020202020204" pitchFamily="34" charset="0"/>
            </a:endParaRPr>
          </a:p>
        </p:txBody>
      </p:sp>
    </p:spTree>
    <p:extLst>
      <p:ext uri="{BB962C8B-B14F-4D97-AF65-F5344CB8AC3E}">
        <p14:creationId xmlns:p14="http://schemas.microsoft.com/office/powerpoint/2010/main" val="173572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95</TotalTime>
  <Words>1042</Words>
  <Application>Microsoft Office PowerPoint</Application>
  <PresentationFormat>Custom</PresentationFormat>
  <Paragraphs>121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vt:lpstr>
      <vt:lpstr>Aptos heading</vt:lpstr>
      <vt:lpstr>Arial</vt:lpstr>
      <vt:lpstr>Corbel</vt:lpstr>
      <vt:lpstr>Digital Blue Tunnel 16x9</vt:lpstr>
      <vt:lpstr>REFLEX</vt:lpstr>
      <vt:lpstr>THE PROBLEM</vt:lpstr>
      <vt:lpstr>THE SOLUTION</vt:lpstr>
      <vt:lpstr>HOW REFLEX WORKS</vt:lpstr>
      <vt:lpstr>ARCHITECTURE</vt:lpstr>
      <vt:lpstr>TRADE-OFFS</vt:lpstr>
      <vt:lpstr>ROADMAP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Topister Were</dc:creator>
  <cp:lastModifiedBy>Topister Were</cp:lastModifiedBy>
  <cp:revision>9</cp:revision>
  <dcterms:created xsi:type="dcterms:W3CDTF">2026-08-29T14:46:35Z</dcterms:created>
  <dcterms:modified xsi:type="dcterms:W3CDTF">2026-08-29T16:21:53Z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