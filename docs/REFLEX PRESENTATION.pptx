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4"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55" autoAdjust="0"/>
    <p:restoredTop sz="42351" autoAdjust="0"/>
  </p:normalViewPr>
  <p:slideViewPr>
    <p:cSldViewPr snapToGrid="0">
      <p:cViewPr varScale="1">
        <p:scale>
          <a:sx n="30" d="100"/>
          <a:sy n="30" d="100"/>
        </p:scale>
        <p:origin x="552" y="54"/>
      </p:cViewPr>
      <p:guideLst/>
    </p:cSldViewPr>
  </p:slideViewPr>
  <p:notesTextViewPr>
    <p:cViewPr>
      <p:scale>
        <a:sx n="1" d="1"/>
        <a:sy n="1" d="1"/>
      </p:scale>
      <p:origin x="0" y="-91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4C3B39-E4DD-4F1C-82C2-9149D6C656A2}" type="datetimeFigureOut">
              <a:rPr lang="en-US" smtClean="0"/>
              <a:t>8/27/2026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5168DA-5759-427F-964A-5413C6A25B32}" type="slidenum">
              <a:rPr lang="en-US" smtClean="0"/>
              <a:t>‹#›</a:t>
            </a:fld>
            <a:endParaRPr lang="en-US"/>
          </a:p>
        </p:txBody>
      </p:sp>
    </p:spTree>
    <p:extLst>
      <p:ext uri="{BB962C8B-B14F-4D97-AF65-F5344CB8AC3E}">
        <p14:creationId xmlns:p14="http://schemas.microsoft.com/office/powerpoint/2010/main" val="3251010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presenting Reflex, a delivery visibility solution designed around the challenges faced by small Kenyan retailers. The problem we're addressing is fragmented delivery coordination through channels such as WhatsApp and phone calls. Reflex turns that fragmented process into a simple, trackable workflow connecting three key roles: the retailer, dispatcher and rider</a:t>
            </a:r>
          </a:p>
        </p:txBody>
      </p:sp>
      <p:sp>
        <p:nvSpPr>
          <p:cNvPr id="4" name="Slide Number Placeholder 3"/>
          <p:cNvSpPr>
            <a:spLocks noGrp="1"/>
          </p:cNvSpPr>
          <p:nvPr>
            <p:ph type="sldNum" sz="quarter" idx="5"/>
          </p:nvPr>
        </p:nvSpPr>
        <p:spPr/>
        <p:txBody>
          <a:bodyPr/>
          <a:lstStyle/>
          <a:p>
            <a:fld id="{0C5168DA-5759-427F-964A-5413C6A25B32}" type="slidenum">
              <a:rPr lang="en-US" smtClean="0"/>
              <a:t>1</a:t>
            </a:fld>
            <a:endParaRPr lang="en-US"/>
          </a:p>
        </p:txBody>
      </p:sp>
    </p:spTree>
    <p:extLst>
      <p:ext uri="{BB962C8B-B14F-4D97-AF65-F5344CB8AC3E}">
        <p14:creationId xmlns:p14="http://schemas.microsoft.com/office/powerpoint/2010/main" val="17920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problem is not that retailers cannot communicate with riders. The problem is that the communication is fragmented. When delivery coordination happens through WhatsApp and phone calls there is no single structured delivery record showing who is responsible, what stage the delivery is at, or whether the delivery has been confirmed. This creates uncertainty and requires manual follow-up."</a:t>
            </a:r>
          </a:p>
          <a:p>
            <a:r>
              <a:rPr lang="en-US" b="1" dirty="0"/>
              <a:t>Panel questions</a:t>
            </a:r>
          </a:p>
          <a:p>
            <a:r>
              <a:rPr lang="en-US" b="1" dirty="0"/>
              <a:t>Q: Why did you choose small retailers?</a:t>
            </a:r>
            <a:endParaRPr lang="en-US" dirty="0"/>
          </a:p>
          <a:p>
            <a:r>
              <a:rPr lang="en-US" dirty="0"/>
              <a:t>"The case study specifically focuses on small Kenyan retailers such as pharmacies, electronics shops and hardware stores. We designed the solution around their delivery coordination problem rather than trying to solve logistics at national scale."</a:t>
            </a:r>
          </a:p>
          <a:p>
            <a:r>
              <a:rPr lang="en-US" b="1" dirty="0"/>
              <a:t>Q: What is the main problem you're solving?</a:t>
            </a:r>
            <a:endParaRPr lang="en-US" dirty="0"/>
          </a:p>
          <a:p>
            <a:r>
              <a:rPr lang="en-US" dirty="0"/>
              <a:t>"Visibility and accountability. The retailer should be able to know what delivery exists, who is responsible for it, and what its current status is without relying on manual follow-up.“</a:t>
            </a:r>
          </a:p>
          <a:p>
            <a:r>
              <a:rPr lang="en-US" b="1" dirty="0"/>
              <a:t>Q: Why not just continue using WhatsApp?</a:t>
            </a:r>
            <a:endParaRPr lang="en-US" dirty="0"/>
          </a:p>
          <a:p>
            <a:r>
              <a:rPr lang="en-US" dirty="0"/>
              <a:t>"WhatsApp is useful for communication, but it isn't designed to maintain a structured delivery-tracking workflow. Reflex adds a defined delivery record, assignment and status flow so that communication doesn't have to carry the entire tracking process.“</a:t>
            </a:r>
          </a:p>
          <a:p>
            <a:r>
              <a:rPr lang="en-US" b="1" dirty="0"/>
              <a:t>Q: Why is fragmented communication a problem?</a:t>
            </a:r>
          </a:p>
          <a:p>
            <a:r>
              <a:rPr lang="en-US" b="1" dirty="0"/>
              <a:t>Answer:</a:t>
            </a:r>
            <a:endParaRPr lang="en-US" dirty="0"/>
          </a:p>
          <a:p>
            <a:r>
              <a:rPr lang="en-US" dirty="0"/>
              <a:t>"Because information can become difficult to track across conversations and calls. The retailer may need to ask who has the delivery, whether it has been picked up, and whether it was completed. Reflex turns those questions into structured delivery states."</a:t>
            </a:r>
            <a:br>
              <a:rPr lang="en-US" dirty="0"/>
            </a:br>
            <a:endParaRPr lang="en-US" dirty="0"/>
          </a:p>
          <a:p>
            <a:r>
              <a:rPr lang="en-US" b="1" dirty="0"/>
              <a:t>Q: Are you saying WhatsApp causes failed deliveries?</a:t>
            </a:r>
          </a:p>
          <a:p>
            <a:r>
              <a:rPr lang="en-US" b="1" dirty="0"/>
              <a:t>Answer:</a:t>
            </a:r>
            <a:endParaRPr lang="en-US" dirty="0"/>
          </a:p>
          <a:p>
            <a:r>
              <a:rPr lang="en-US" b="0" dirty="0"/>
              <a:t>"No. We are not claiming that WhatsApp causes delivery failure. Our case study identifies fragmented coordination and lack of visibility as the problem. Reflex addresses the tracking and coordination gap."</a:t>
            </a:r>
          </a:p>
          <a:p>
            <a:endParaRPr lang="en-US" dirty="0"/>
          </a:p>
          <a:p>
            <a:r>
              <a:rPr lang="en-US" b="1" dirty="0"/>
              <a:t>Q: Why not build a WhatsApp bot instead?</a:t>
            </a:r>
          </a:p>
          <a:p>
            <a:r>
              <a:rPr lang="en-US" b="1" dirty="0"/>
              <a:t>Answer:</a:t>
            </a:r>
            <a:endParaRPr lang="en-US" dirty="0"/>
          </a:p>
          <a:p>
            <a:r>
              <a:rPr lang="en-US" dirty="0"/>
              <a:t>"That could be a possible future approach. For this sprint, we focused on demonstrating the underlying delivery workflow rather than integrating with a messaging platform."</a:t>
            </a:r>
          </a:p>
          <a:p>
            <a:endParaRPr lang="en-US" dirty="0"/>
          </a:p>
        </p:txBody>
      </p:sp>
      <p:sp>
        <p:nvSpPr>
          <p:cNvPr id="4" name="Slide Number Placeholder 3"/>
          <p:cNvSpPr>
            <a:spLocks noGrp="1"/>
          </p:cNvSpPr>
          <p:nvPr>
            <p:ph type="sldNum" sz="quarter" idx="5"/>
          </p:nvPr>
        </p:nvSpPr>
        <p:spPr/>
        <p:txBody>
          <a:bodyPr/>
          <a:lstStyle/>
          <a:p>
            <a:fld id="{0C5168DA-5759-427F-964A-5413C6A25B32}" type="slidenum">
              <a:rPr lang="en-US" smtClean="0"/>
              <a:t>2</a:t>
            </a:fld>
            <a:endParaRPr lang="en-US"/>
          </a:p>
        </p:txBody>
      </p:sp>
    </p:spTree>
    <p:extLst>
      <p:ext uri="{BB962C8B-B14F-4D97-AF65-F5344CB8AC3E}">
        <p14:creationId xmlns:p14="http://schemas.microsoft.com/office/powerpoint/2010/main" val="35249469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Reflex replaces the fragmented coordination process with a defined delivery workflow. The retailer creates a delivery request, the dispatcher views and assigns it to a rider, and the rider views their assigned delivery and updates its status as it progresses. At handover, the rider uses the delivery-specific confirmation code to confirm the delivery. The result is a shared delivery record with a defined lifecycle."</a:t>
            </a:r>
          </a:p>
          <a:p>
            <a:r>
              <a:rPr lang="en-US" b="1" dirty="0"/>
              <a:t>Panel questions</a:t>
            </a:r>
          </a:p>
          <a:p>
            <a:r>
              <a:rPr lang="en-US" b="1" dirty="0"/>
              <a:t>Q: Who are the users?</a:t>
            </a:r>
            <a:endParaRPr lang="en-US" dirty="0"/>
          </a:p>
          <a:p>
            <a:r>
              <a:rPr lang="en-US" dirty="0"/>
              <a:t>"There are three primary roles: the retailer, the dispatcher and the rider."</a:t>
            </a:r>
          </a:p>
          <a:p>
            <a:r>
              <a:rPr lang="en-US" b="1" dirty="0"/>
              <a:t>Q: What does each role do?</a:t>
            </a:r>
            <a:endParaRPr lang="en-US" dirty="0"/>
          </a:p>
          <a:p>
            <a:r>
              <a:rPr lang="en-US" dirty="0"/>
              <a:t>"The retailer logs the delivery. The dispatcher views open deliveries and assigns riders. The rider views their assigned deliveries and updates the status and confirms the handover using the delivery confirmation code."</a:t>
            </a:r>
          </a:p>
          <a:p>
            <a:r>
              <a:rPr lang="en-US" b="1" dirty="0"/>
              <a:t>Q: What is the most important part of Reflex?</a:t>
            </a:r>
            <a:endParaRPr lang="en-US" dirty="0"/>
          </a:p>
          <a:p>
            <a:r>
              <a:rPr lang="en-US" dirty="0"/>
              <a:t>The most important part is the delivery lifecycle and visibility. Reflex gives each delivery a defined state and makes responsibility and progress easier to track instead of leaving that information across separate conversations.</a:t>
            </a:r>
          </a:p>
          <a:p>
            <a:r>
              <a:rPr lang="en-US" b="1" dirty="0"/>
              <a:t>Q: How does Reflex improve on the existing process?</a:t>
            </a:r>
          </a:p>
          <a:p>
            <a:r>
              <a:rPr lang="en-US" b="1" dirty="0"/>
              <a:t>"</a:t>
            </a:r>
            <a:r>
              <a:rPr lang="en-US" b="0" dirty="0"/>
              <a:t>It turns fragmented communication into a structured workflow. Instead of relying on conversations to determine who has a delivery and what stage it is at, the delivery has a record, an assigned rider and a defined status."</a:t>
            </a:r>
          </a:p>
          <a:p>
            <a:r>
              <a:rPr lang="en-US" b="1" dirty="0"/>
              <a:t>Q: Does Reflex replace WhatsApp?</a:t>
            </a:r>
          </a:p>
          <a:p>
            <a:r>
              <a:rPr lang="en-US" b="0" dirty="0"/>
              <a:t>"Not necessarily. Reflex addresses the tracking and coordination gap. WhatsApp could still be used for communication, while Reflex provides the structured delivery record and status workflow."</a:t>
            </a:r>
            <a:br>
              <a:rPr lang="en-US" b="0" dirty="0"/>
            </a:br>
            <a:endParaRPr lang="en-US" b="0" dirty="0"/>
          </a:p>
          <a:p>
            <a:r>
              <a:rPr lang="en-US" b="1" dirty="0"/>
              <a:t>Q: What happens after the rider picks up the delivery?</a:t>
            </a:r>
          </a:p>
          <a:p>
            <a:r>
              <a:rPr lang="en-US" b="1" dirty="0"/>
              <a:t>"</a:t>
            </a:r>
            <a:r>
              <a:rPr lang="en-US" b="0" dirty="0"/>
              <a:t>The rider moves the delivery from Picked Up toward completion. At handover, the rider provides the correct delivery-specific confirmation code, after which the system records the delivery as Delivered."</a:t>
            </a:r>
          </a:p>
          <a:p>
            <a:endParaRPr lang="en-US" b="0" dirty="0"/>
          </a:p>
          <a:p>
            <a:endParaRPr lang="en-US" dirty="0"/>
          </a:p>
        </p:txBody>
      </p:sp>
      <p:sp>
        <p:nvSpPr>
          <p:cNvPr id="4" name="Slide Number Placeholder 3"/>
          <p:cNvSpPr>
            <a:spLocks noGrp="1"/>
          </p:cNvSpPr>
          <p:nvPr>
            <p:ph type="sldNum" sz="quarter" idx="5"/>
          </p:nvPr>
        </p:nvSpPr>
        <p:spPr/>
        <p:txBody>
          <a:bodyPr/>
          <a:lstStyle/>
          <a:p>
            <a:fld id="{0C5168DA-5759-427F-964A-5413C6A25B32}" type="slidenum">
              <a:rPr lang="en-US" smtClean="0"/>
              <a:t>3</a:t>
            </a:fld>
            <a:endParaRPr lang="en-US"/>
          </a:p>
        </p:txBody>
      </p:sp>
    </p:spTree>
    <p:extLst>
      <p:ext uri="{BB962C8B-B14F-4D97-AF65-F5344CB8AC3E}">
        <p14:creationId xmlns:p14="http://schemas.microsoft.com/office/powerpoint/2010/main" val="237063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design idea is that the three roles interact with the same delivery record. The retailer creates the request, the dispatcher assigns it to a rider, and the rider updates its progress through the defined delivery lifecycle. The rider cannot skip or reverse the allowed status transitions. At handover, the rider must provide the correct delivery-specific confirmation code before the delivery is recorded as Delivered."</a:t>
            </a:r>
            <a:endParaRPr lang="en-US" b="1" dirty="0"/>
          </a:p>
          <a:p>
            <a:r>
              <a:rPr lang="en-US" b="1" dirty="0"/>
              <a:t>Panel questions</a:t>
            </a:r>
          </a:p>
          <a:p>
            <a:r>
              <a:rPr lang="en-US" b="1" dirty="0"/>
              <a:t>Q: What happens after the retailer logs a delivery?</a:t>
            </a:r>
            <a:endParaRPr lang="en-US" dirty="0"/>
          </a:p>
          <a:p>
            <a:r>
              <a:rPr lang="en-US" dirty="0"/>
              <a:t>"The delivery is created with an identifier and an initial status. The dispatcher can then view the open delivery and assign it to a rider."</a:t>
            </a:r>
          </a:p>
          <a:p>
            <a:r>
              <a:rPr lang="en-US" b="1" dirty="0"/>
              <a:t>Q: How does the rider know what to deliver?</a:t>
            </a:r>
            <a:endParaRPr lang="en-US" dirty="0"/>
          </a:p>
          <a:p>
            <a:r>
              <a:rPr lang="en-US" dirty="0"/>
              <a:t>"The rider can use the </a:t>
            </a:r>
            <a:r>
              <a:rPr lang="en-US" dirty="0" err="1"/>
              <a:t>mydeliveries</a:t>
            </a:r>
            <a:r>
              <a:rPr lang="en-US" dirty="0"/>
              <a:t> command to see deliveries assigned to them."</a:t>
            </a:r>
          </a:p>
          <a:p>
            <a:r>
              <a:rPr lang="en-US" b="1" dirty="0"/>
              <a:t>Q: What happens when the rider updates the status?</a:t>
            </a:r>
            <a:endParaRPr lang="en-US" dirty="0"/>
          </a:p>
          <a:p>
            <a:r>
              <a:rPr lang="en-US" dirty="0"/>
              <a:t>"The system validates the requested transition against the allowed delivery lifecycle. The rider can move the delivery forward through the defined states, but cannot skip or move backwards.“</a:t>
            </a:r>
          </a:p>
          <a:p>
            <a:r>
              <a:rPr lang="en-US" b="1" dirty="0"/>
              <a:t>Q: Why can't the rider move directly from Assigned to Delivered?</a:t>
            </a:r>
            <a:endParaRPr lang="en-US" dirty="0"/>
          </a:p>
          <a:p>
            <a:r>
              <a:rPr lang="en-US" b="0" dirty="0"/>
              <a:t>"Because Reflex enforces the delivery lifecycle. The rider must progress through the permitted states: Pending → Assigned → Picked Up → Delivered.“</a:t>
            </a:r>
          </a:p>
          <a:p>
            <a:r>
              <a:rPr lang="en-US" b="1" dirty="0"/>
              <a:t>Q: What happens after Picked Up?</a:t>
            </a:r>
            <a:endParaRPr lang="en-US" dirty="0"/>
          </a:p>
          <a:p>
            <a:r>
              <a:rPr lang="en-US" b="0" dirty="0"/>
              <a:t>"At handover, the rider uses the delivery-specific confirmation code. The delivery only becomes Delivered when the correct code is provided."</a:t>
            </a:r>
          </a:p>
          <a:p>
            <a:r>
              <a:rPr lang="en-US" b="1" dirty="0"/>
              <a:t>Q: Why is confirmation separate from status?</a:t>
            </a:r>
            <a:endParaRPr lang="en-US" dirty="0"/>
          </a:p>
          <a:p>
            <a:r>
              <a:rPr lang="en-US" b="1" dirty="0"/>
              <a:t>"</a:t>
            </a:r>
            <a:r>
              <a:rPr lang="en-US" b="0" dirty="0"/>
              <a:t>Status represents where the delivery is in its lifecycle, while confirmation provides evidence for the final handover step. Separating the two lets the system validate that the delivery has reached the appropriate stage before completing it."</a:t>
            </a:r>
            <a:endParaRPr lang="en-US" dirty="0"/>
          </a:p>
          <a:p>
            <a:r>
              <a:rPr lang="en-US" b="1" dirty="0"/>
              <a:t>Q: What happens if the rider enters the wrong confirmation code?</a:t>
            </a:r>
          </a:p>
          <a:p>
            <a:r>
              <a:rPr lang="en-US" b="0" dirty="0"/>
              <a:t>"The confirmation is rejected and the delivery remains uncompleted."</a:t>
            </a:r>
          </a:p>
          <a:p>
            <a:endParaRPr lang="en-US" b="0" dirty="0"/>
          </a:p>
          <a:p>
            <a:endParaRPr lang="en-US" dirty="0"/>
          </a:p>
        </p:txBody>
      </p:sp>
      <p:sp>
        <p:nvSpPr>
          <p:cNvPr id="4" name="Slide Number Placeholder 3"/>
          <p:cNvSpPr>
            <a:spLocks noGrp="1"/>
          </p:cNvSpPr>
          <p:nvPr>
            <p:ph type="sldNum" sz="quarter" idx="5"/>
          </p:nvPr>
        </p:nvSpPr>
        <p:spPr/>
        <p:txBody>
          <a:bodyPr/>
          <a:lstStyle/>
          <a:p>
            <a:fld id="{0C5168DA-5759-427F-964A-5413C6A25B32}" type="slidenum">
              <a:rPr lang="en-US" smtClean="0"/>
              <a:t>4</a:t>
            </a:fld>
            <a:endParaRPr lang="en-US"/>
          </a:p>
        </p:txBody>
      </p:sp>
    </p:spTree>
    <p:extLst>
      <p:ext uri="{BB962C8B-B14F-4D97-AF65-F5344CB8AC3E}">
        <p14:creationId xmlns:p14="http://schemas.microsoft.com/office/powerpoint/2010/main" val="3508204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"Reflex is implemented as a lightweight Node.js and JavaScript command-line application. Delivery records are stored in a shared JSON file. The workflow moves from retailer logging a request, through dispatcher assignment and rider status updates, to confirmation and delivery completion.</a:t>
            </a:r>
            <a:r>
              <a:rPr lang="en-US" dirty="0"/>
              <a:t> The system enforces the defined forward-only status transitions: Pending → Assigned → Picked Up → Delivered."</a:t>
            </a:r>
            <a:r>
              <a:rPr lang="en-US" b="0" dirty="0"/>
              <a:t>. The sync command uses a local checkpoint to identify records that have changed since the previous sync."</a:t>
            </a:r>
          </a:p>
          <a:p>
            <a:r>
              <a:rPr lang="en-US" b="0" dirty="0"/>
              <a:t>"We deliberately kept the architecture lightweight because this is a sprint MVP. JSON storage reduced setup complexity and allowed us to focus on demonstrating the delivery workflow. A production system would require stronger persistence, authentication, concurrency controls and a backend service/API.“</a:t>
            </a:r>
          </a:p>
          <a:p>
            <a:endParaRPr lang="en-US" b="0" dirty="0"/>
          </a:p>
          <a:p>
            <a:r>
              <a:rPr lang="en-US" b="1" dirty="0"/>
              <a:t>Testing evidence:</a:t>
            </a:r>
            <a:r>
              <a:rPr lang="en-US" dirty="0"/>
              <a:t> Final end-to-end testing covered invalid delivery IDs, invalid status transitions, missing required fields and unknown riders. Final end-to-end testing covered the core workflow and failure cases including invalid IDs, invalid status, missing required details, unknown riders and incorrect confirmation codes. All reported tests passed."</a:t>
            </a:r>
            <a:endParaRPr lang="en-US" b="0" dirty="0"/>
          </a:p>
          <a:p>
            <a:r>
              <a:rPr lang="en-US" b="1" dirty="0"/>
              <a:t>Panel questions</a:t>
            </a:r>
          </a:p>
          <a:p>
            <a:r>
              <a:rPr lang="en-US" b="1" dirty="0"/>
              <a:t>Q: Why did you choose a CLI?</a:t>
            </a:r>
            <a:endParaRPr lang="en-US" dirty="0"/>
          </a:p>
          <a:p>
            <a:r>
              <a:rPr lang="en-US" dirty="0"/>
              <a:t>"The CLI gave us a fast and controlled way to demonstrate the complete delivery workflow within the sprint. It allowed us to focus on the underlying delivery logic rather than spending most of our time building a graphical interface."</a:t>
            </a:r>
          </a:p>
          <a:p>
            <a:r>
              <a:rPr lang="en-US" b="1" dirty="0"/>
              <a:t>Q: Why JSON instead of a database?</a:t>
            </a:r>
            <a:endParaRPr lang="en-US" dirty="0"/>
          </a:p>
          <a:p>
            <a:r>
              <a:rPr lang="en-US" dirty="0"/>
              <a:t>"For this sprint prototype, JSON storage reduced infrastructure complexity and allowed rapid implementation. We recognize that it would not be the appropriate choice for a production system with multiple concurrent users and larger data volumes."</a:t>
            </a:r>
          </a:p>
          <a:p>
            <a:r>
              <a:rPr lang="en-US" b="1" dirty="0"/>
              <a:t>Q: Is this production-ready?</a:t>
            </a:r>
            <a:endParaRPr lang="en-US" dirty="0"/>
          </a:p>
          <a:p>
            <a:r>
              <a:rPr lang="en-US" dirty="0"/>
              <a:t>"No. We designed it as a sprint-level prototype that demonstrates the core workflow. Production deployment would require stronger persistence, authentication, concurrency controls and real-time infrastructure."</a:t>
            </a:r>
          </a:p>
          <a:p>
            <a:r>
              <a:rPr lang="en-US" b="1" dirty="0"/>
              <a:t>Q: What would you change first?</a:t>
            </a:r>
            <a:endParaRPr lang="en-US" dirty="0"/>
          </a:p>
          <a:p>
            <a:r>
              <a:rPr lang="en-US" dirty="0"/>
              <a:t>"I would first introduce a backend API and proper database. That would give us reliable persistence and allow multiple clients to interact with the system. From there, I would add authentication, stronger concurrency controls and real-time updates."</a:t>
            </a:r>
          </a:p>
          <a:p>
            <a:endParaRPr lang="en-US" dirty="0"/>
          </a:p>
        </p:txBody>
      </p:sp>
      <p:sp>
        <p:nvSpPr>
          <p:cNvPr id="4" name="Slide Number Placeholder 3"/>
          <p:cNvSpPr>
            <a:spLocks noGrp="1"/>
          </p:cNvSpPr>
          <p:nvPr>
            <p:ph type="sldNum" sz="quarter" idx="5"/>
          </p:nvPr>
        </p:nvSpPr>
        <p:spPr/>
        <p:txBody>
          <a:bodyPr/>
          <a:lstStyle/>
          <a:p>
            <a:fld id="{0C5168DA-5759-427F-964A-5413C6A25B32}" type="slidenum">
              <a:rPr lang="en-US" smtClean="0"/>
              <a:t>5</a:t>
            </a:fld>
            <a:endParaRPr lang="en-US"/>
          </a:p>
        </p:txBody>
      </p:sp>
    </p:spTree>
    <p:extLst>
      <p:ext uri="{BB962C8B-B14F-4D97-AF65-F5344CB8AC3E}">
        <p14:creationId xmlns:p14="http://schemas.microsoft.com/office/powerpoint/2010/main" val="30311812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made deliberate trade-offs to keep the MVP achievable within the sprint. We used JSON storage instead of a production database, checkpoint-based synchronization rather than network-based real-time updates, and a confirmation code instead of physical scanning because the CLI has no camera functionality. These choices allowed us to demonstrate the core delivery workflow while making the limitations explicit.</a:t>
            </a:r>
          </a:p>
          <a:p>
            <a:r>
              <a:rPr lang="en-US" b="1" dirty="0"/>
              <a:t>Trade-off 1 — Confirmation</a:t>
            </a:r>
          </a:p>
          <a:p>
            <a:r>
              <a:rPr lang="en-US" b="1" dirty="0"/>
              <a:t>State: </a:t>
            </a:r>
            <a:r>
              <a:rPr lang="en-US" dirty="0"/>
              <a:t>We used a delivery-specific four-digit confirmation code as a substitute for physical scanning in this CLI MVP."</a:t>
            </a:r>
          </a:p>
          <a:p>
            <a:r>
              <a:rPr lang="en-US" b="1" dirty="0"/>
              <a:t>Context:</a:t>
            </a:r>
            <a:endParaRPr lang="en-US" dirty="0"/>
          </a:p>
          <a:p>
            <a:r>
              <a:rPr lang="en-US" dirty="0"/>
              <a:t>The project is a CLI, so it does not have camera or QR-scanning capability.“</a:t>
            </a:r>
          </a:p>
          <a:p>
            <a:r>
              <a:rPr lang="en-US" b="1" dirty="0"/>
              <a:t>Evidence:</a:t>
            </a:r>
            <a:endParaRPr lang="en-US" dirty="0"/>
          </a:p>
          <a:p>
            <a:r>
              <a:rPr lang="en-US" dirty="0"/>
              <a:t>The </a:t>
            </a:r>
            <a:r>
              <a:rPr lang="en-US" sz="1200" kern="1200" dirty="0">
                <a:solidFill>
                  <a:schemeClr val="tx1"/>
                </a:solidFill>
                <a:latin typeface="+mn-lt"/>
                <a:ea typeface="+mn-ea"/>
                <a:cs typeface="+mn-cs"/>
              </a:rPr>
              <a:t>confirm</a:t>
            </a:r>
            <a:r>
              <a:rPr lang="en-US" dirty="0"/>
              <a:t> command validates the delivery-specific code before allowing the delivery to become Delivered.“</a:t>
            </a:r>
          </a:p>
          <a:p>
            <a:r>
              <a:rPr lang="en-US" b="1" dirty="0"/>
              <a:t>Future:</a:t>
            </a:r>
            <a:endParaRPr lang="en-US" dirty="0"/>
          </a:p>
          <a:p>
            <a:r>
              <a:rPr lang="en-US" dirty="0"/>
              <a:t>A production mobile application could use QR scanning or another stronger handover-verification mechanism.</a:t>
            </a:r>
          </a:p>
          <a:p>
            <a:r>
              <a:rPr lang="en-US" b="1" dirty="0"/>
              <a:t>Trade-off 2 — Sync</a:t>
            </a:r>
          </a:p>
          <a:p>
            <a:r>
              <a:rPr lang="en-US" b="1" dirty="0"/>
              <a:t>State:</a:t>
            </a:r>
            <a:endParaRPr lang="en-US" dirty="0"/>
          </a:p>
          <a:p>
            <a:r>
              <a:rPr lang="en-US" dirty="0"/>
              <a:t>Our sync is checkpoint-based rather than true real-time synchronization.</a:t>
            </a:r>
          </a:p>
          <a:p>
            <a:r>
              <a:rPr lang="en-US" b="1" dirty="0"/>
              <a:t>Context:</a:t>
            </a:r>
            <a:endParaRPr lang="en-US" dirty="0"/>
          </a:p>
          <a:p>
            <a:r>
              <a:rPr lang="en-US" dirty="0"/>
              <a:t>The CLI does not maintain a persistent network connection to a backend.</a:t>
            </a:r>
          </a:p>
          <a:p>
            <a:r>
              <a:rPr lang="en-US" b="1" dirty="0"/>
              <a:t>Evidence:</a:t>
            </a:r>
            <a:endParaRPr lang="en-US" dirty="0"/>
          </a:p>
          <a:p>
            <a:r>
              <a:rPr lang="en-US" dirty="0"/>
              <a:t>The sync process checks the shared JSON data against the user's previous sync checkpoint to identify changes.“</a:t>
            </a:r>
          </a:p>
          <a:p>
            <a:r>
              <a:rPr lang="en-US" b="1" dirty="0"/>
              <a:t>Future:</a:t>
            </a:r>
            <a:endParaRPr lang="en-US" dirty="0"/>
          </a:p>
          <a:p>
            <a:r>
              <a:rPr lang="en-US" dirty="0"/>
              <a:t>A production system could use an API with polling, webhooks or another live-update mechanism.</a:t>
            </a:r>
          </a:p>
          <a:p>
            <a:br>
              <a:rPr lang="en-US" dirty="0"/>
            </a:br>
            <a:endParaRPr lang="en-US" dirty="0"/>
          </a:p>
          <a:p>
            <a:r>
              <a:rPr lang="en-US" b="1" dirty="0"/>
              <a:t>Trade-off 3 — JSON</a:t>
            </a:r>
          </a:p>
          <a:p>
            <a:r>
              <a:rPr lang="en-US" b="1" dirty="0"/>
              <a:t>State:</a:t>
            </a:r>
            <a:endParaRPr lang="en-US" dirty="0"/>
          </a:p>
          <a:p>
            <a:r>
              <a:rPr lang="en-US" dirty="0"/>
              <a:t>We chose JSON instead of a database.</a:t>
            </a:r>
          </a:p>
          <a:p>
            <a:r>
              <a:rPr lang="en-US" b="1" dirty="0"/>
              <a:t>Context:</a:t>
            </a:r>
            <a:endParaRPr lang="en-US" dirty="0"/>
          </a:p>
          <a:p>
            <a:r>
              <a:rPr lang="en-US" dirty="0"/>
              <a:t>The sprint prioritized demonstrating the workflow quickly rather than building production infrastructure.</a:t>
            </a:r>
          </a:p>
          <a:p>
            <a:r>
              <a:rPr lang="en-US" b="1" dirty="0"/>
              <a:t>Evidence:</a:t>
            </a:r>
            <a:endParaRPr lang="en-US" dirty="0"/>
          </a:p>
          <a:p>
            <a:r>
              <a:rPr lang="en-US" dirty="0"/>
              <a:t>The repository's design notes explicitly identify JSON as a speed-of-setup decision. </a:t>
            </a:r>
          </a:p>
          <a:p>
            <a:r>
              <a:rPr lang="en-US" b="1" dirty="0"/>
              <a:t>Future:</a:t>
            </a:r>
            <a:endParaRPr lang="en-US" dirty="0"/>
          </a:p>
          <a:p>
            <a:r>
              <a:rPr lang="en-US" dirty="0"/>
              <a:t>A production system would use a database with proper concurrency and transactional controls.</a:t>
            </a:r>
          </a:p>
          <a:p>
            <a:br>
              <a:rPr lang="en-US" dirty="0"/>
            </a:br>
            <a:endParaRPr lang="en-US" dirty="0"/>
          </a:p>
          <a:p>
            <a:r>
              <a:rPr lang="en-US" b="1" dirty="0"/>
              <a:t>Trade-off 4 — Reassignment</a:t>
            </a:r>
          </a:p>
          <a:p>
            <a:r>
              <a:rPr lang="en-US" b="1" dirty="0"/>
              <a:t>State:</a:t>
            </a:r>
            <a:endParaRPr lang="en-US" dirty="0"/>
          </a:p>
          <a:p>
            <a:r>
              <a:rPr lang="en-US" dirty="0"/>
              <a:t>Reflex warns when a delivery is already assigned but still allows reassignment."</a:t>
            </a:r>
          </a:p>
          <a:p>
            <a:r>
              <a:rPr lang="en-US" b="1" dirty="0"/>
              <a:t>Context:</a:t>
            </a:r>
            <a:endParaRPr lang="en-US" dirty="0"/>
          </a:p>
          <a:p>
            <a:r>
              <a:rPr lang="en-US" dirty="0"/>
              <a:t>The current JSON-based architecture doesn't provide true concurrency protection.</a:t>
            </a:r>
          </a:p>
          <a:p>
            <a:r>
              <a:rPr lang="en-US" b="1" dirty="0"/>
              <a:t>Evidence:</a:t>
            </a:r>
            <a:endParaRPr lang="en-US" dirty="0"/>
          </a:p>
          <a:p>
            <a:r>
              <a:rPr lang="en-US" dirty="0"/>
              <a:t>When an already-assigned delivery is reassigned, the system warns that the existing assignment will be overwritten."</a:t>
            </a:r>
          </a:p>
          <a:p>
            <a:r>
              <a:rPr lang="en-US" b="1" dirty="0"/>
              <a:t>Future:</a:t>
            </a:r>
            <a:endParaRPr lang="en-US" dirty="0"/>
          </a:p>
          <a:p>
            <a:r>
              <a:rPr lang="en-US" dirty="0"/>
              <a:t>A production implementation could use database transactions or optimistic concurrency control to prevent conflicting assignments.“</a:t>
            </a:r>
          </a:p>
          <a:p>
            <a:endParaRPr lang="en-US" b="1" dirty="0"/>
          </a:p>
          <a:p>
            <a:r>
              <a:rPr lang="en-US" b="1" dirty="0"/>
              <a:t>Why did you knowingly build something with these limitations?"</a:t>
            </a:r>
            <a:endParaRPr lang="en-US" dirty="0"/>
          </a:p>
          <a:p>
            <a:r>
              <a:rPr lang="en-US" b="1" dirty="0"/>
              <a:t>"</a:t>
            </a:r>
            <a:r>
              <a:rPr lang="en-US" b="0" dirty="0"/>
              <a:t>Because this was a sprint MVP. We prioritized demonstrating the core delivery workflow and made the limitations explicit rather than attempting to build production infrastructure that we could not properly complete and defend within the available time."</a:t>
            </a:r>
          </a:p>
          <a:p>
            <a:endParaRPr lang="en-US" b="1" dirty="0"/>
          </a:p>
          <a:p>
            <a:r>
              <a:rPr lang="en-US" b="1" dirty="0"/>
              <a:t>"Which trade-off would you address first?"</a:t>
            </a:r>
            <a:endParaRPr lang="en-US" dirty="0"/>
          </a:p>
          <a:p>
            <a:r>
              <a:rPr lang="en-US" b="0" dirty="0"/>
              <a:t>"I would address the storage and backend architecture first. Moving from shared JSON to a database and API would provide the foundation for concurrency control, authentication and reliable synchronization. The scanning experience could then be improved through a mobile client."</a:t>
            </a:r>
          </a:p>
          <a:p>
            <a:endParaRPr lang="en-US" b="0" dirty="0"/>
          </a:p>
          <a:p>
            <a:endParaRPr lang="en-US" dirty="0"/>
          </a:p>
        </p:txBody>
      </p:sp>
      <p:sp>
        <p:nvSpPr>
          <p:cNvPr id="4" name="Slide Number Placeholder 3"/>
          <p:cNvSpPr>
            <a:spLocks noGrp="1"/>
          </p:cNvSpPr>
          <p:nvPr>
            <p:ph type="sldNum" sz="quarter" idx="5"/>
          </p:nvPr>
        </p:nvSpPr>
        <p:spPr/>
        <p:txBody>
          <a:bodyPr/>
          <a:lstStyle/>
          <a:p>
            <a:fld id="{0C5168DA-5759-427F-964A-5413C6A25B32}" type="slidenum">
              <a:rPr lang="en-US" smtClean="0"/>
              <a:t>6</a:t>
            </a:fld>
            <a:endParaRPr lang="en-US"/>
          </a:p>
        </p:txBody>
      </p:sp>
    </p:spTree>
    <p:extLst>
      <p:ext uri="{BB962C8B-B14F-4D97-AF65-F5344CB8AC3E}">
        <p14:creationId xmlns:p14="http://schemas.microsoft.com/office/powerpoint/2010/main" val="4117959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roadmap separates what we needed to prove during the sprint from what would be required for a production platform. The MVP establishes the core delivery workflow. The next stage would strengthen persistence, introduce an API, authentication and more reliable synchronization. Later, we could add richer delivery visibility such as GPS tracking, proof of delivery, notifications and analytics.“</a:t>
            </a:r>
          </a:p>
          <a:p>
            <a:r>
              <a:rPr lang="en-US" b="1" dirty="0"/>
              <a:t>Q: Why didn't you build GPS tracking?</a:t>
            </a:r>
            <a:endParaRPr lang="en-US" dirty="0"/>
          </a:p>
          <a:p>
            <a:r>
              <a:rPr lang="en-US" dirty="0"/>
              <a:t>"It wasn't necessary to prove the core delivery workflow within the sprint. Adding GPS would increase technical scope significantly, so we treated it as a future capability."</a:t>
            </a:r>
          </a:p>
          <a:p>
            <a:r>
              <a:rPr lang="en-US" b="1" dirty="0"/>
              <a:t>Q: What would you prioritize first?</a:t>
            </a:r>
            <a:endParaRPr lang="en-US" dirty="0"/>
          </a:p>
          <a:p>
            <a:r>
              <a:rPr lang="en-US" dirty="0"/>
              <a:t>I would prioritize production-grade data persistence and a backend API first, followed by authentication and concurrency controls. These provide the foundation for safely supporting multiple users and future clients</a:t>
            </a:r>
          </a:p>
          <a:p>
            <a:r>
              <a:rPr lang="en-US" b="1" dirty="0"/>
              <a:t>Q: Why is GPS later rather than next?</a:t>
            </a:r>
          </a:p>
          <a:p>
            <a:r>
              <a:rPr lang="en-US" b="0" dirty="0"/>
              <a:t>"GPS improves visibility, but it depends on having a reliable production backend and a suitable rider client first. We would establish that foundation before adding location services."</a:t>
            </a:r>
          </a:p>
          <a:p>
            <a:endParaRPr lang="en-US" dirty="0"/>
          </a:p>
          <a:p>
            <a:endParaRPr lang="en-US" dirty="0"/>
          </a:p>
        </p:txBody>
      </p:sp>
      <p:sp>
        <p:nvSpPr>
          <p:cNvPr id="4" name="Slide Number Placeholder 3"/>
          <p:cNvSpPr>
            <a:spLocks noGrp="1"/>
          </p:cNvSpPr>
          <p:nvPr>
            <p:ph type="sldNum" sz="quarter" idx="5"/>
          </p:nvPr>
        </p:nvSpPr>
        <p:spPr/>
        <p:txBody>
          <a:bodyPr/>
          <a:lstStyle/>
          <a:p>
            <a:fld id="{0C5168DA-5759-427F-964A-5413C6A25B32}" type="slidenum">
              <a:rPr lang="en-US" smtClean="0"/>
              <a:t>7</a:t>
            </a:fld>
            <a:endParaRPr lang="en-US"/>
          </a:p>
        </p:txBody>
      </p:sp>
    </p:spTree>
    <p:extLst>
      <p:ext uri="{BB962C8B-B14F-4D97-AF65-F5344CB8AC3E}">
        <p14:creationId xmlns:p14="http://schemas.microsoft.com/office/powerpoint/2010/main" val="2210434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takeaway is that Reflex doesn't attempt to solve every logistics problem. It focuses on one important gap: delivery visibility. By turning a fragmented process into a defined workflow of logging, assignment, status updates and confirmation, Reflex provides the foundation for a more </a:t>
            </a:r>
            <a:r>
              <a:rPr lang="en-US"/>
              <a:t>reliable delivery operation.</a:t>
            </a:r>
            <a:endParaRPr lang="en-US" dirty="0"/>
          </a:p>
        </p:txBody>
      </p:sp>
      <p:sp>
        <p:nvSpPr>
          <p:cNvPr id="4" name="Slide Number Placeholder 3"/>
          <p:cNvSpPr>
            <a:spLocks noGrp="1"/>
          </p:cNvSpPr>
          <p:nvPr>
            <p:ph type="sldNum" sz="quarter" idx="5"/>
          </p:nvPr>
        </p:nvSpPr>
        <p:spPr/>
        <p:txBody>
          <a:bodyPr/>
          <a:lstStyle/>
          <a:p>
            <a:fld id="{0C5168DA-5759-427F-964A-5413C6A25B32}" type="slidenum">
              <a:rPr lang="en-US" smtClean="0"/>
              <a:t>8</a:t>
            </a:fld>
            <a:endParaRPr lang="en-US"/>
          </a:p>
        </p:txBody>
      </p:sp>
    </p:spTree>
    <p:extLst>
      <p:ext uri="{BB962C8B-B14F-4D97-AF65-F5344CB8AC3E}">
        <p14:creationId xmlns:p14="http://schemas.microsoft.com/office/powerpoint/2010/main" val="30269044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D2C33-CC11-F0A6-B582-D23C3731B1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933D49E-378A-7198-B0CE-07028847B9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287259-6CE7-BF19-66FC-0127717EA140}"/>
              </a:ext>
            </a:extLst>
          </p:cNvPr>
          <p:cNvSpPr>
            <a:spLocks noGrp="1"/>
          </p:cNvSpPr>
          <p:nvPr>
            <p:ph type="dt" sz="half" idx="10"/>
          </p:nvPr>
        </p:nvSpPr>
        <p:spPr/>
        <p:txBody>
          <a:bodyPr/>
          <a:lstStyle/>
          <a:p>
            <a:fld id="{772F6D0D-8107-483F-B4DB-97EAAC195F31}" type="datetimeFigureOut">
              <a:rPr lang="en-US" smtClean="0"/>
              <a:t>8/27/2026</a:t>
            </a:fld>
            <a:endParaRPr lang="en-US"/>
          </a:p>
        </p:txBody>
      </p:sp>
      <p:sp>
        <p:nvSpPr>
          <p:cNvPr id="5" name="Footer Placeholder 4">
            <a:extLst>
              <a:ext uri="{FF2B5EF4-FFF2-40B4-BE49-F238E27FC236}">
                <a16:creationId xmlns:a16="http://schemas.microsoft.com/office/drawing/2014/main" id="{65E91021-A9AA-B580-CCF0-A722F01EF0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2D7A39-0B8F-6718-CD9A-954C6B007DC8}"/>
              </a:ext>
            </a:extLst>
          </p:cNvPr>
          <p:cNvSpPr>
            <a:spLocks noGrp="1"/>
          </p:cNvSpPr>
          <p:nvPr>
            <p:ph type="sldNum" sz="quarter" idx="12"/>
          </p:nvPr>
        </p:nvSpPr>
        <p:spPr/>
        <p:txBody>
          <a:bodyPr/>
          <a:lstStyle/>
          <a:p>
            <a:fld id="{703DAF7C-CBC9-4F5C-97ED-26897E38B10C}" type="slidenum">
              <a:rPr lang="en-US" smtClean="0"/>
              <a:t>‹#›</a:t>
            </a:fld>
            <a:endParaRPr lang="en-US"/>
          </a:p>
        </p:txBody>
      </p:sp>
    </p:spTree>
    <p:extLst>
      <p:ext uri="{BB962C8B-B14F-4D97-AF65-F5344CB8AC3E}">
        <p14:creationId xmlns:p14="http://schemas.microsoft.com/office/powerpoint/2010/main" val="1795268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B0ED1-5EBD-3FCB-D457-AB00E2F2300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1E6EAD-CC09-3BA9-5E3D-FFCF80DBD0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335C97-7B91-D962-2942-0D658F44FF3F}"/>
              </a:ext>
            </a:extLst>
          </p:cNvPr>
          <p:cNvSpPr>
            <a:spLocks noGrp="1"/>
          </p:cNvSpPr>
          <p:nvPr>
            <p:ph type="dt" sz="half" idx="10"/>
          </p:nvPr>
        </p:nvSpPr>
        <p:spPr/>
        <p:txBody>
          <a:bodyPr/>
          <a:lstStyle/>
          <a:p>
            <a:fld id="{772F6D0D-8107-483F-B4DB-97EAAC195F31}" type="datetimeFigureOut">
              <a:rPr lang="en-US" smtClean="0"/>
              <a:t>8/27/2026</a:t>
            </a:fld>
            <a:endParaRPr lang="en-US"/>
          </a:p>
        </p:txBody>
      </p:sp>
      <p:sp>
        <p:nvSpPr>
          <p:cNvPr id="5" name="Footer Placeholder 4">
            <a:extLst>
              <a:ext uri="{FF2B5EF4-FFF2-40B4-BE49-F238E27FC236}">
                <a16:creationId xmlns:a16="http://schemas.microsoft.com/office/drawing/2014/main" id="{7F9A17F7-1BF7-4021-3523-0704E4594C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F9C1B7-A308-9974-7DD3-45BFB3435625}"/>
              </a:ext>
            </a:extLst>
          </p:cNvPr>
          <p:cNvSpPr>
            <a:spLocks noGrp="1"/>
          </p:cNvSpPr>
          <p:nvPr>
            <p:ph type="sldNum" sz="quarter" idx="12"/>
          </p:nvPr>
        </p:nvSpPr>
        <p:spPr/>
        <p:txBody>
          <a:bodyPr/>
          <a:lstStyle/>
          <a:p>
            <a:fld id="{703DAF7C-CBC9-4F5C-97ED-26897E38B10C}" type="slidenum">
              <a:rPr lang="en-US" smtClean="0"/>
              <a:t>‹#›</a:t>
            </a:fld>
            <a:endParaRPr lang="en-US"/>
          </a:p>
        </p:txBody>
      </p:sp>
    </p:spTree>
    <p:extLst>
      <p:ext uri="{BB962C8B-B14F-4D97-AF65-F5344CB8AC3E}">
        <p14:creationId xmlns:p14="http://schemas.microsoft.com/office/powerpoint/2010/main" val="7316975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E521D-82E5-7C33-FA2F-768EDAD385A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20E72B-8563-AE59-613A-A5681DE102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523CB0-B9B3-A082-C0EA-30BB5773400F}"/>
              </a:ext>
            </a:extLst>
          </p:cNvPr>
          <p:cNvSpPr>
            <a:spLocks noGrp="1"/>
          </p:cNvSpPr>
          <p:nvPr>
            <p:ph type="dt" sz="half" idx="10"/>
          </p:nvPr>
        </p:nvSpPr>
        <p:spPr/>
        <p:txBody>
          <a:bodyPr/>
          <a:lstStyle/>
          <a:p>
            <a:fld id="{772F6D0D-8107-483F-B4DB-97EAAC195F31}" type="datetimeFigureOut">
              <a:rPr lang="en-US" smtClean="0"/>
              <a:t>8/27/2026</a:t>
            </a:fld>
            <a:endParaRPr lang="en-US"/>
          </a:p>
        </p:txBody>
      </p:sp>
      <p:sp>
        <p:nvSpPr>
          <p:cNvPr id="5" name="Footer Placeholder 4">
            <a:extLst>
              <a:ext uri="{FF2B5EF4-FFF2-40B4-BE49-F238E27FC236}">
                <a16:creationId xmlns:a16="http://schemas.microsoft.com/office/drawing/2014/main" id="{7950EC89-D6E7-952F-1195-FBA861867C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798673-7968-A097-6711-244BDE39FCE2}"/>
              </a:ext>
            </a:extLst>
          </p:cNvPr>
          <p:cNvSpPr>
            <a:spLocks noGrp="1"/>
          </p:cNvSpPr>
          <p:nvPr>
            <p:ph type="sldNum" sz="quarter" idx="12"/>
          </p:nvPr>
        </p:nvSpPr>
        <p:spPr/>
        <p:txBody>
          <a:bodyPr/>
          <a:lstStyle/>
          <a:p>
            <a:fld id="{703DAF7C-CBC9-4F5C-97ED-26897E38B10C}" type="slidenum">
              <a:rPr lang="en-US" smtClean="0"/>
              <a:t>‹#›</a:t>
            </a:fld>
            <a:endParaRPr lang="en-US"/>
          </a:p>
        </p:txBody>
      </p:sp>
    </p:spTree>
    <p:extLst>
      <p:ext uri="{BB962C8B-B14F-4D97-AF65-F5344CB8AC3E}">
        <p14:creationId xmlns:p14="http://schemas.microsoft.com/office/powerpoint/2010/main" val="27864614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8111C-7EEB-86D9-FA12-8EFD5DC3920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C3AB7E-CC9F-D3F2-B0CA-BB806AAD39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5C8575-53C4-33D9-35E1-B0DB697168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DE55FDA-A3F2-6B8D-0FED-39817999C869}"/>
              </a:ext>
            </a:extLst>
          </p:cNvPr>
          <p:cNvSpPr>
            <a:spLocks noGrp="1"/>
          </p:cNvSpPr>
          <p:nvPr>
            <p:ph type="dt" sz="half" idx="10"/>
          </p:nvPr>
        </p:nvSpPr>
        <p:spPr/>
        <p:txBody>
          <a:bodyPr/>
          <a:lstStyle/>
          <a:p>
            <a:fld id="{772F6D0D-8107-483F-B4DB-97EAAC195F31}" type="datetimeFigureOut">
              <a:rPr lang="en-US" smtClean="0"/>
              <a:t>8/27/2026</a:t>
            </a:fld>
            <a:endParaRPr lang="en-US"/>
          </a:p>
        </p:txBody>
      </p:sp>
      <p:sp>
        <p:nvSpPr>
          <p:cNvPr id="6" name="Footer Placeholder 5">
            <a:extLst>
              <a:ext uri="{FF2B5EF4-FFF2-40B4-BE49-F238E27FC236}">
                <a16:creationId xmlns:a16="http://schemas.microsoft.com/office/drawing/2014/main" id="{C01E3A6E-41E7-113D-B666-B01E9EF1D8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892B82-57E5-60E3-A840-6A4030920E3C}"/>
              </a:ext>
            </a:extLst>
          </p:cNvPr>
          <p:cNvSpPr>
            <a:spLocks noGrp="1"/>
          </p:cNvSpPr>
          <p:nvPr>
            <p:ph type="sldNum" sz="quarter" idx="12"/>
          </p:nvPr>
        </p:nvSpPr>
        <p:spPr/>
        <p:txBody>
          <a:bodyPr/>
          <a:lstStyle/>
          <a:p>
            <a:fld id="{703DAF7C-CBC9-4F5C-97ED-26897E38B10C}" type="slidenum">
              <a:rPr lang="en-US" smtClean="0"/>
              <a:t>‹#›</a:t>
            </a:fld>
            <a:endParaRPr lang="en-US"/>
          </a:p>
        </p:txBody>
      </p:sp>
    </p:spTree>
    <p:extLst>
      <p:ext uri="{BB962C8B-B14F-4D97-AF65-F5344CB8AC3E}">
        <p14:creationId xmlns:p14="http://schemas.microsoft.com/office/powerpoint/2010/main" val="28221011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26AB4-C3F5-BC45-F666-6AB38A17E2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8615099-3E9E-22BC-0CA2-51BF74D50B8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D54C4C-6846-8B48-EBC1-6E2E1FF7A5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93623BD-BFC9-6E77-806F-A3BD943549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D79693-447C-5980-7958-431AF28310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06DF71B-6CFE-C255-09FB-AB076E4009F1}"/>
              </a:ext>
            </a:extLst>
          </p:cNvPr>
          <p:cNvSpPr>
            <a:spLocks noGrp="1"/>
          </p:cNvSpPr>
          <p:nvPr>
            <p:ph type="dt" sz="half" idx="10"/>
          </p:nvPr>
        </p:nvSpPr>
        <p:spPr/>
        <p:txBody>
          <a:bodyPr/>
          <a:lstStyle/>
          <a:p>
            <a:fld id="{772F6D0D-8107-483F-B4DB-97EAAC195F31}" type="datetimeFigureOut">
              <a:rPr lang="en-US" smtClean="0"/>
              <a:t>8/27/2026</a:t>
            </a:fld>
            <a:endParaRPr lang="en-US"/>
          </a:p>
        </p:txBody>
      </p:sp>
      <p:sp>
        <p:nvSpPr>
          <p:cNvPr id="8" name="Footer Placeholder 7">
            <a:extLst>
              <a:ext uri="{FF2B5EF4-FFF2-40B4-BE49-F238E27FC236}">
                <a16:creationId xmlns:a16="http://schemas.microsoft.com/office/drawing/2014/main" id="{718BED74-D2EA-E1AA-E41B-9CA46C3C99D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EB5D21-C99F-3C46-C484-94A0AC1E7C19}"/>
              </a:ext>
            </a:extLst>
          </p:cNvPr>
          <p:cNvSpPr>
            <a:spLocks noGrp="1"/>
          </p:cNvSpPr>
          <p:nvPr>
            <p:ph type="sldNum" sz="quarter" idx="12"/>
          </p:nvPr>
        </p:nvSpPr>
        <p:spPr/>
        <p:txBody>
          <a:bodyPr/>
          <a:lstStyle/>
          <a:p>
            <a:fld id="{703DAF7C-CBC9-4F5C-97ED-26897E38B10C}" type="slidenum">
              <a:rPr lang="en-US" smtClean="0"/>
              <a:t>‹#›</a:t>
            </a:fld>
            <a:endParaRPr lang="en-US"/>
          </a:p>
        </p:txBody>
      </p:sp>
    </p:spTree>
    <p:extLst>
      <p:ext uri="{BB962C8B-B14F-4D97-AF65-F5344CB8AC3E}">
        <p14:creationId xmlns:p14="http://schemas.microsoft.com/office/powerpoint/2010/main" val="3110546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5BC11-5B26-AB03-79A4-5ED6800568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9E1635A-E237-3072-ADFF-3553B49C4270}"/>
              </a:ext>
            </a:extLst>
          </p:cNvPr>
          <p:cNvSpPr>
            <a:spLocks noGrp="1"/>
          </p:cNvSpPr>
          <p:nvPr>
            <p:ph type="dt" sz="half" idx="10"/>
          </p:nvPr>
        </p:nvSpPr>
        <p:spPr/>
        <p:txBody>
          <a:bodyPr/>
          <a:lstStyle/>
          <a:p>
            <a:fld id="{772F6D0D-8107-483F-B4DB-97EAAC195F31}" type="datetimeFigureOut">
              <a:rPr lang="en-US" smtClean="0"/>
              <a:t>8/27/2026</a:t>
            </a:fld>
            <a:endParaRPr lang="en-US"/>
          </a:p>
        </p:txBody>
      </p:sp>
      <p:sp>
        <p:nvSpPr>
          <p:cNvPr id="4" name="Footer Placeholder 3">
            <a:extLst>
              <a:ext uri="{FF2B5EF4-FFF2-40B4-BE49-F238E27FC236}">
                <a16:creationId xmlns:a16="http://schemas.microsoft.com/office/drawing/2014/main" id="{165D614A-08A3-6272-DD63-3833AFFA3BC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F9DF9C2-BED6-C27B-DB4A-5F34D05395F2}"/>
              </a:ext>
            </a:extLst>
          </p:cNvPr>
          <p:cNvSpPr>
            <a:spLocks noGrp="1"/>
          </p:cNvSpPr>
          <p:nvPr>
            <p:ph type="sldNum" sz="quarter" idx="12"/>
          </p:nvPr>
        </p:nvSpPr>
        <p:spPr/>
        <p:txBody>
          <a:bodyPr/>
          <a:lstStyle/>
          <a:p>
            <a:fld id="{703DAF7C-CBC9-4F5C-97ED-26897E38B10C}" type="slidenum">
              <a:rPr lang="en-US" smtClean="0"/>
              <a:t>‹#›</a:t>
            </a:fld>
            <a:endParaRPr lang="en-US"/>
          </a:p>
        </p:txBody>
      </p:sp>
    </p:spTree>
    <p:extLst>
      <p:ext uri="{BB962C8B-B14F-4D97-AF65-F5344CB8AC3E}">
        <p14:creationId xmlns:p14="http://schemas.microsoft.com/office/powerpoint/2010/main" val="4202022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6D5912-9400-1BBA-5231-033CEF973BEC}"/>
              </a:ext>
            </a:extLst>
          </p:cNvPr>
          <p:cNvSpPr>
            <a:spLocks noGrp="1"/>
          </p:cNvSpPr>
          <p:nvPr>
            <p:ph type="dt" sz="half" idx="10"/>
          </p:nvPr>
        </p:nvSpPr>
        <p:spPr/>
        <p:txBody>
          <a:bodyPr/>
          <a:lstStyle/>
          <a:p>
            <a:fld id="{772F6D0D-8107-483F-B4DB-97EAAC195F31}" type="datetimeFigureOut">
              <a:rPr lang="en-US" smtClean="0"/>
              <a:t>8/27/2026</a:t>
            </a:fld>
            <a:endParaRPr lang="en-US"/>
          </a:p>
        </p:txBody>
      </p:sp>
      <p:sp>
        <p:nvSpPr>
          <p:cNvPr id="3" name="Footer Placeholder 2">
            <a:extLst>
              <a:ext uri="{FF2B5EF4-FFF2-40B4-BE49-F238E27FC236}">
                <a16:creationId xmlns:a16="http://schemas.microsoft.com/office/drawing/2014/main" id="{C9BB4DDF-20BC-6835-B348-6EB51DCF7E9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59ED5F-FE4B-A9CF-E505-7FA8A19F20D6}"/>
              </a:ext>
            </a:extLst>
          </p:cNvPr>
          <p:cNvSpPr>
            <a:spLocks noGrp="1"/>
          </p:cNvSpPr>
          <p:nvPr>
            <p:ph type="sldNum" sz="quarter" idx="12"/>
          </p:nvPr>
        </p:nvSpPr>
        <p:spPr/>
        <p:txBody>
          <a:bodyPr/>
          <a:lstStyle/>
          <a:p>
            <a:fld id="{703DAF7C-CBC9-4F5C-97ED-26897E38B10C}" type="slidenum">
              <a:rPr lang="en-US" smtClean="0"/>
              <a:t>‹#›</a:t>
            </a:fld>
            <a:endParaRPr lang="en-US"/>
          </a:p>
        </p:txBody>
      </p:sp>
    </p:spTree>
    <p:extLst>
      <p:ext uri="{BB962C8B-B14F-4D97-AF65-F5344CB8AC3E}">
        <p14:creationId xmlns:p14="http://schemas.microsoft.com/office/powerpoint/2010/main" val="2439680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1840B-99DB-BD2C-ABF3-A9FB2BF7E0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1B036CE-9E16-4D23-D7A9-745532A795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AF229B-179E-E982-A636-B3E881C09C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2EFF5D-08CC-480B-E600-73BDE44CA3E6}"/>
              </a:ext>
            </a:extLst>
          </p:cNvPr>
          <p:cNvSpPr>
            <a:spLocks noGrp="1"/>
          </p:cNvSpPr>
          <p:nvPr>
            <p:ph type="dt" sz="half" idx="10"/>
          </p:nvPr>
        </p:nvSpPr>
        <p:spPr/>
        <p:txBody>
          <a:bodyPr/>
          <a:lstStyle/>
          <a:p>
            <a:fld id="{772F6D0D-8107-483F-B4DB-97EAAC195F31}" type="datetimeFigureOut">
              <a:rPr lang="en-US" smtClean="0"/>
              <a:t>8/27/2026</a:t>
            </a:fld>
            <a:endParaRPr lang="en-US"/>
          </a:p>
        </p:txBody>
      </p:sp>
      <p:sp>
        <p:nvSpPr>
          <p:cNvPr id="6" name="Footer Placeholder 5">
            <a:extLst>
              <a:ext uri="{FF2B5EF4-FFF2-40B4-BE49-F238E27FC236}">
                <a16:creationId xmlns:a16="http://schemas.microsoft.com/office/drawing/2014/main" id="{65C634A4-C06D-A441-80EA-8F74A0C975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CD2AF84-4C3C-4724-5D8F-4A3DD7E4AC01}"/>
              </a:ext>
            </a:extLst>
          </p:cNvPr>
          <p:cNvSpPr>
            <a:spLocks noGrp="1"/>
          </p:cNvSpPr>
          <p:nvPr>
            <p:ph type="sldNum" sz="quarter" idx="12"/>
          </p:nvPr>
        </p:nvSpPr>
        <p:spPr/>
        <p:txBody>
          <a:bodyPr/>
          <a:lstStyle/>
          <a:p>
            <a:fld id="{703DAF7C-CBC9-4F5C-97ED-26897E38B10C}" type="slidenum">
              <a:rPr lang="en-US" smtClean="0"/>
              <a:t>‹#›</a:t>
            </a:fld>
            <a:endParaRPr lang="en-US"/>
          </a:p>
        </p:txBody>
      </p:sp>
    </p:spTree>
    <p:extLst>
      <p:ext uri="{BB962C8B-B14F-4D97-AF65-F5344CB8AC3E}">
        <p14:creationId xmlns:p14="http://schemas.microsoft.com/office/powerpoint/2010/main" val="1286945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EE71-F152-C061-F4DA-0B273686C9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657964C-368C-7113-2230-16443CB7B7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340C452-D7EA-A7F7-6AEF-054456E95F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5D3804-0973-551B-FE1B-CE262A2280C9}"/>
              </a:ext>
            </a:extLst>
          </p:cNvPr>
          <p:cNvSpPr>
            <a:spLocks noGrp="1"/>
          </p:cNvSpPr>
          <p:nvPr>
            <p:ph type="dt" sz="half" idx="10"/>
          </p:nvPr>
        </p:nvSpPr>
        <p:spPr/>
        <p:txBody>
          <a:bodyPr/>
          <a:lstStyle/>
          <a:p>
            <a:fld id="{772F6D0D-8107-483F-B4DB-97EAAC195F31}" type="datetimeFigureOut">
              <a:rPr lang="en-US" smtClean="0"/>
              <a:t>8/27/2026</a:t>
            </a:fld>
            <a:endParaRPr lang="en-US"/>
          </a:p>
        </p:txBody>
      </p:sp>
      <p:sp>
        <p:nvSpPr>
          <p:cNvPr id="6" name="Footer Placeholder 5">
            <a:extLst>
              <a:ext uri="{FF2B5EF4-FFF2-40B4-BE49-F238E27FC236}">
                <a16:creationId xmlns:a16="http://schemas.microsoft.com/office/drawing/2014/main" id="{D0E13E5F-8BAA-BB2E-1477-BD1CF94C53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CF66BD-5ED1-0ED8-401F-70B426751A87}"/>
              </a:ext>
            </a:extLst>
          </p:cNvPr>
          <p:cNvSpPr>
            <a:spLocks noGrp="1"/>
          </p:cNvSpPr>
          <p:nvPr>
            <p:ph type="sldNum" sz="quarter" idx="12"/>
          </p:nvPr>
        </p:nvSpPr>
        <p:spPr/>
        <p:txBody>
          <a:bodyPr/>
          <a:lstStyle/>
          <a:p>
            <a:fld id="{703DAF7C-CBC9-4F5C-97ED-26897E38B10C}" type="slidenum">
              <a:rPr lang="en-US" smtClean="0"/>
              <a:t>‹#›</a:t>
            </a:fld>
            <a:endParaRPr lang="en-US"/>
          </a:p>
        </p:txBody>
      </p:sp>
    </p:spTree>
    <p:extLst>
      <p:ext uri="{BB962C8B-B14F-4D97-AF65-F5344CB8AC3E}">
        <p14:creationId xmlns:p14="http://schemas.microsoft.com/office/powerpoint/2010/main" val="1824248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3EFE6-E4BE-8447-1AB2-8CEF4528AF8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8DE31C7-AE2B-5070-75EB-6A0A8B273D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06D537-A72F-EF5C-7C2D-E467E71D30A8}"/>
              </a:ext>
            </a:extLst>
          </p:cNvPr>
          <p:cNvSpPr>
            <a:spLocks noGrp="1"/>
          </p:cNvSpPr>
          <p:nvPr>
            <p:ph type="dt" sz="half" idx="10"/>
          </p:nvPr>
        </p:nvSpPr>
        <p:spPr/>
        <p:txBody>
          <a:bodyPr/>
          <a:lstStyle/>
          <a:p>
            <a:fld id="{772F6D0D-8107-483F-B4DB-97EAAC195F31}" type="datetimeFigureOut">
              <a:rPr lang="en-US" smtClean="0"/>
              <a:t>8/27/2026</a:t>
            </a:fld>
            <a:endParaRPr lang="en-US"/>
          </a:p>
        </p:txBody>
      </p:sp>
      <p:sp>
        <p:nvSpPr>
          <p:cNvPr id="5" name="Footer Placeholder 4">
            <a:extLst>
              <a:ext uri="{FF2B5EF4-FFF2-40B4-BE49-F238E27FC236}">
                <a16:creationId xmlns:a16="http://schemas.microsoft.com/office/drawing/2014/main" id="{F4BC6FDE-488F-3830-CE36-E30883DF22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03780F-7A34-07AE-EC45-17C75253084E}"/>
              </a:ext>
            </a:extLst>
          </p:cNvPr>
          <p:cNvSpPr>
            <a:spLocks noGrp="1"/>
          </p:cNvSpPr>
          <p:nvPr>
            <p:ph type="sldNum" sz="quarter" idx="12"/>
          </p:nvPr>
        </p:nvSpPr>
        <p:spPr/>
        <p:txBody>
          <a:bodyPr/>
          <a:lstStyle/>
          <a:p>
            <a:fld id="{703DAF7C-CBC9-4F5C-97ED-26897E38B10C}" type="slidenum">
              <a:rPr lang="en-US" smtClean="0"/>
              <a:t>‹#›</a:t>
            </a:fld>
            <a:endParaRPr lang="en-US"/>
          </a:p>
        </p:txBody>
      </p:sp>
    </p:spTree>
    <p:extLst>
      <p:ext uri="{BB962C8B-B14F-4D97-AF65-F5344CB8AC3E}">
        <p14:creationId xmlns:p14="http://schemas.microsoft.com/office/powerpoint/2010/main" val="376976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A39CF7-B6B7-E38B-2C1A-BE954B59AD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8C9CB3-D359-6513-0EA3-B98FEEBF1D9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415C3E-0071-FB35-06B1-106F5C03A2DC}"/>
              </a:ext>
            </a:extLst>
          </p:cNvPr>
          <p:cNvSpPr>
            <a:spLocks noGrp="1"/>
          </p:cNvSpPr>
          <p:nvPr>
            <p:ph type="dt" sz="half" idx="10"/>
          </p:nvPr>
        </p:nvSpPr>
        <p:spPr/>
        <p:txBody>
          <a:bodyPr/>
          <a:lstStyle/>
          <a:p>
            <a:fld id="{772F6D0D-8107-483F-B4DB-97EAAC195F31}" type="datetimeFigureOut">
              <a:rPr lang="en-US" smtClean="0"/>
              <a:t>8/27/2026</a:t>
            </a:fld>
            <a:endParaRPr lang="en-US"/>
          </a:p>
        </p:txBody>
      </p:sp>
      <p:sp>
        <p:nvSpPr>
          <p:cNvPr id="5" name="Footer Placeholder 4">
            <a:extLst>
              <a:ext uri="{FF2B5EF4-FFF2-40B4-BE49-F238E27FC236}">
                <a16:creationId xmlns:a16="http://schemas.microsoft.com/office/drawing/2014/main" id="{0A2EBE50-0660-A831-A1E4-DAA84CA128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023E7C-CF60-A0BA-68AB-CAD1110B8E6D}"/>
              </a:ext>
            </a:extLst>
          </p:cNvPr>
          <p:cNvSpPr>
            <a:spLocks noGrp="1"/>
          </p:cNvSpPr>
          <p:nvPr>
            <p:ph type="sldNum" sz="quarter" idx="12"/>
          </p:nvPr>
        </p:nvSpPr>
        <p:spPr/>
        <p:txBody>
          <a:bodyPr/>
          <a:lstStyle/>
          <a:p>
            <a:fld id="{703DAF7C-CBC9-4F5C-97ED-26897E38B10C}" type="slidenum">
              <a:rPr lang="en-US" smtClean="0"/>
              <a:t>‹#›</a:t>
            </a:fld>
            <a:endParaRPr lang="en-US"/>
          </a:p>
        </p:txBody>
      </p:sp>
    </p:spTree>
    <p:extLst>
      <p:ext uri="{BB962C8B-B14F-4D97-AF65-F5344CB8AC3E}">
        <p14:creationId xmlns:p14="http://schemas.microsoft.com/office/powerpoint/2010/main" val="731858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317976-89E8-90E4-32E2-889C659459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2D3494-CAD5-80AD-72FC-0326BE1E5B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1ECF10-9C81-1FA4-4821-ED7E8BD4AB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2F6D0D-8107-483F-B4DB-97EAAC195F31}" type="datetimeFigureOut">
              <a:rPr lang="en-US" smtClean="0"/>
              <a:t>8/27/2026</a:t>
            </a:fld>
            <a:endParaRPr lang="en-US"/>
          </a:p>
        </p:txBody>
      </p:sp>
      <p:sp>
        <p:nvSpPr>
          <p:cNvPr id="5" name="Footer Placeholder 4">
            <a:extLst>
              <a:ext uri="{FF2B5EF4-FFF2-40B4-BE49-F238E27FC236}">
                <a16:creationId xmlns:a16="http://schemas.microsoft.com/office/drawing/2014/main" id="{5FC8F0C9-4EC6-A7EC-7859-B72F3F73AC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3F7BE02-8933-7BA8-FBBF-D80DF4CF72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3DAF7C-CBC9-4F5C-97ED-26897E38B10C}" type="slidenum">
              <a:rPr lang="en-US" smtClean="0"/>
              <a:t>‹#›</a:t>
            </a:fld>
            <a:endParaRPr lang="en-US"/>
          </a:p>
        </p:txBody>
      </p:sp>
    </p:spTree>
    <p:extLst>
      <p:ext uri="{BB962C8B-B14F-4D97-AF65-F5344CB8AC3E}">
        <p14:creationId xmlns:p14="http://schemas.microsoft.com/office/powerpoint/2010/main" val="5841047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91DC3-BDA6-F51B-4A19-5A771127E3A5}"/>
              </a:ext>
            </a:extLst>
          </p:cNvPr>
          <p:cNvSpPr>
            <a:spLocks noGrp="1"/>
          </p:cNvSpPr>
          <p:nvPr>
            <p:ph type="ctrTitle"/>
          </p:nvPr>
        </p:nvSpPr>
        <p:spPr>
          <a:xfrm>
            <a:off x="1524000" y="342901"/>
            <a:ext cx="9144000" cy="1165859"/>
          </a:xfrm>
        </p:spPr>
        <p:txBody>
          <a:bodyPr>
            <a:normAutofit/>
          </a:bodyPr>
          <a:lstStyle/>
          <a:p>
            <a:r>
              <a:rPr lang="en-US" sz="4400" b="1" dirty="0">
                <a:latin typeface="Aptos display" panose="020F0502020204030204" pitchFamily="34" charset="0"/>
              </a:rPr>
              <a:t>REFLEX</a:t>
            </a:r>
          </a:p>
        </p:txBody>
      </p:sp>
      <p:sp>
        <p:nvSpPr>
          <p:cNvPr id="3" name="Subtitle 2">
            <a:extLst>
              <a:ext uri="{FF2B5EF4-FFF2-40B4-BE49-F238E27FC236}">
                <a16:creationId xmlns:a16="http://schemas.microsoft.com/office/drawing/2014/main" id="{B01C3F0B-0841-2A6C-99A0-DEAE19F60CAD}"/>
              </a:ext>
            </a:extLst>
          </p:cNvPr>
          <p:cNvSpPr>
            <a:spLocks noGrp="1"/>
          </p:cNvSpPr>
          <p:nvPr>
            <p:ph type="subTitle" idx="1"/>
          </p:nvPr>
        </p:nvSpPr>
        <p:spPr>
          <a:xfrm>
            <a:off x="548640" y="1851660"/>
            <a:ext cx="11643360" cy="4434840"/>
          </a:xfrm>
        </p:spPr>
        <p:txBody>
          <a:bodyPr>
            <a:normAutofit/>
          </a:bodyPr>
          <a:lstStyle/>
          <a:p>
            <a:r>
              <a:rPr lang="en-US" sz="4000" dirty="0">
                <a:latin typeface="Aptos" panose="020B0004020202020204" pitchFamily="34" charset="0"/>
              </a:rPr>
              <a:t>Delivery Visibility for Small Kenyan Retailers</a:t>
            </a:r>
          </a:p>
          <a:p>
            <a:r>
              <a:rPr lang="en-US" sz="4000" dirty="0">
                <a:latin typeface="Aptos" panose="020B0004020202020204" pitchFamily="34" charset="0"/>
              </a:rPr>
              <a:t>From fragmented delivery coordination to a visible delivery workflow</a:t>
            </a:r>
          </a:p>
          <a:p>
            <a:r>
              <a:rPr lang="en-US" sz="4000" dirty="0">
                <a:latin typeface="Aptos" panose="020B0004020202020204" pitchFamily="34" charset="0"/>
              </a:rPr>
              <a:t>Team Reflex | Week 3 Final Sprint</a:t>
            </a:r>
          </a:p>
          <a:p>
            <a:r>
              <a:rPr lang="en-US" sz="4000" dirty="0">
                <a:latin typeface="Aptos" panose="020B0004020202020204" pitchFamily="34" charset="0"/>
              </a:rPr>
              <a:t>Retailer → Dispatcher → Rider</a:t>
            </a:r>
          </a:p>
        </p:txBody>
      </p:sp>
    </p:spTree>
    <p:extLst>
      <p:ext uri="{BB962C8B-B14F-4D97-AF65-F5344CB8AC3E}">
        <p14:creationId xmlns:p14="http://schemas.microsoft.com/office/powerpoint/2010/main" val="3364167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A6E26-6A84-95C0-D5BE-40E0F37B7E95}"/>
              </a:ext>
            </a:extLst>
          </p:cNvPr>
          <p:cNvSpPr>
            <a:spLocks noGrp="1"/>
          </p:cNvSpPr>
          <p:nvPr>
            <p:ph type="title"/>
          </p:nvPr>
        </p:nvSpPr>
        <p:spPr>
          <a:xfrm>
            <a:off x="838200" y="365126"/>
            <a:ext cx="10515600" cy="705392"/>
          </a:xfrm>
        </p:spPr>
        <p:txBody>
          <a:bodyPr>
            <a:normAutofit/>
          </a:bodyPr>
          <a:lstStyle/>
          <a:p>
            <a:pPr algn="ctr"/>
            <a:r>
              <a:rPr lang="en-US" sz="4000" b="1" dirty="0">
                <a:latin typeface="Aptos display" panose="020B0004020202020204" pitchFamily="34" charset="0"/>
              </a:rPr>
              <a:t>THE PROBLEM</a:t>
            </a:r>
          </a:p>
        </p:txBody>
      </p:sp>
      <p:sp>
        <p:nvSpPr>
          <p:cNvPr id="3" name="Content Placeholder 2">
            <a:extLst>
              <a:ext uri="{FF2B5EF4-FFF2-40B4-BE49-F238E27FC236}">
                <a16:creationId xmlns:a16="http://schemas.microsoft.com/office/drawing/2014/main" id="{240D72DC-C156-729C-744C-96F8B3672C33}"/>
              </a:ext>
            </a:extLst>
          </p:cNvPr>
          <p:cNvSpPr>
            <a:spLocks noGrp="1"/>
          </p:cNvSpPr>
          <p:nvPr>
            <p:ph idx="1"/>
          </p:nvPr>
        </p:nvSpPr>
        <p:spPr>
          <a:xfrm>
            <a:off x="370702" y="1235676"/>
            <a:ext cx="11821297" cy="5462303"/>
          </a:xfrm>
        </p:spPr>
        <p:txBody>
          <a:bodyPr>
            <a:normAutofit fontScale="55000" lnSpcReduction="20000"/>
          </a:bodyPr>
          <a:lstStyle/>
          <a:p>
            <a:pPr marL="0" indent="0">
              <a:buNone/>
            </a:pPr>
            <a:r>
              <a:rPr lang="en-US" sz="5900" dirty="0">
                <a:latin typeface="Aptos" panose="020B0004020202020204" pitchFamily="34" charset="0"/>
              </a:rPr>
              <a:t>Delivery coordination is fragmented.</a:t>
            </a:r>
          </a:p>
          <a:p>
            <a:pPr marL="0" indent="0">
              <a:buNone/>
            </a:pPr>
            <a:r>
              <a:rPr lang="en-US" sz="5900" dirty="0">
                <a:latin typeface="Aptos" panose="020B0004020202020204" pitchFamily="34" charset="0"/>
              </a:rPr>
              <a:t>WhatsApp + Phone Calls</a:t>
            </a:r>
          </a:p>
          <a:p>
            <a:pPr marL="0" indent="0">
              <a:buNone/>
            </a:pPr>
            <a:r>
              <a:rPr lang="en-US" sz="5900" dirty="0">
                <a:latin typeface="Aptos" panose="020B0004020202020204" pitchFamily="34" charset="0"/>
              </a:rPr>
              <a:t>↓ </a:t>
            </a:r>
          </a:p>
          <a:p>
            <a:pPr marL="0" indent="0">
              <a:buNone/>
            </a:pPr>
            <a:r>
              <a:rPr lang="en-US" sz="5900" dirty="0">
                <a:latin typeface="Aptos" panose="020B0004020202020204" pitchFamily="34" charset="0"/>
              </a:rPr>
              <a:t>No single view of:</a:t>
            </a:r>
          </a:p>
          <a:p>
            <a:pPr marL="0" indent="0">
              <a:buNone/>
            </a:pPr>
            <a:r>
              <a:rPr lang="en-US" sz="5900" dirty="0">
                <a:latin typeface="Aptos" panose="020B0004020202020204" pitchFamily="34" charset="0"/>
              </a:rPr>
              <a:t>Assignment • Status • Confirmation</a:t>
            </a:r>
          </a:p>
          <a:p>
            <a:pPr marL="0" indent="0">
              <a:buNone/>
            </a:pPr>
            <a:r>
              <a:rPr lang="en-US" sz="5900" dirty="0">
                <a:latin typeface="Aptos" panose="020B0004020202020204" pitchFamily="34" charset="0"/>
              </a:rPr>
              <a:t>Bottom line</a:t>
            </a:r>
          </a:p>
          <a:p>
            <a:pPr marL="0" indent="0">
              <a:buNone/>
            </a:pPr>
            <a:r>
              <a:rPr lang="en-US" sz="5900" dirty="0">
                <a:latin typeface="Aptos" panose="020B0004020202020204" pitchFamily="34" charset="0"/>
              </a:rPr>
              <a:t>Manual follow-ups. Uncertain delivery progress.</a:t>
            </a:r>
          </a:p>
          <a:p>
            <a:pPr marL="0" indent="0">
              <a:buNone/>
            </a:pPr>
            <a:endParaRPr lang="en-US" sz="5900" dirty="0">
              <a:latin typeface="Aptos" panose="020B0004020202020204" pitchFamily="34" charset="0"/>
            </a:endParaRPr>
          </a:p>
          <a:p>
            <a:pPr marL="0" indent="0">
              <a:buNone/>
            </a:pPr>
            <a:r>
              <a:rPr lang="en-US" sz="5900" dirty="0">
                <a:latin typeface="Aptos" panose="020B0004020202020204" pitchFamily="34" charset="0"/>
              </a:rPr>
              <a:t>Retailer  →  WhatsApp / Calls  →  Dispatcher  →  Rider</a:t>
            </a:r>
          </a:p>
          <a:p>
            <a:pPr marL="0" indent="0">
              <a:buNone/>
            </a:pPr>
            <a:r>
              <a:rPr lang="en-US" sz="5900" dirty="0">
                <a:latin typeface="Aptos" panose="020B0004020202020204" pitchFamily="34" charset="0"/>
              </a:rPr>
              <a:t>                         ↓</a:t>
            </a:r>
          </a:p>
          <a:p>
            <a:pPr marL="0" indent="0">
              <a:buNone/>
            </a:pPr>
            <a:r>
              <a:rPr lang="en-US" sz="5900" dirty="0">
                <a:latin typeface="Aptos" panose="020B0004020202020204" pitchFamily="34" charset="0"/>
              </a:rPr>
              <a:t>                 Information is fragmented</a:t>
            </a:r>
          </a:p>
          <a:p>
            <a:endParaRPr lang="en-US" dirty="0">
              <a:latin typeface="Aptos" panose="020B0004020202020204" pitchFamily="34" charset="0"/>
            </a:endParaRPr>
          </a:p>
        </p:txBody>
      </p:sp>
    </p:spTree>
    <p:extLst>
      <p:ext uri="{BB962C8B-B14F-4D97-AF65-F5344CB8AC3E}">
        <p14:creationId xmlns:p14="http://schemas.microsoft.com/office/powerpoint/2010/main" val="2556300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DA11E-985F-88D3-9EBB-B950ACF3DA14}"/>
              </a:ext>
            </a:extLst>
          </p:cNvPr>
          <p:cNvSpPr>
            <a:spLocks noGrp="1"/>
          </p:cNvSpPr>
          <p:nvPr>
            <p:ph type="title"/>
          </p:nvPr>
        </p:nvSpPr>
        <p:spPr/>
        <p:txBody>
          <a:bodyPr>
            <a:normAutofit/>
          </a:bodyPr>
          <a:lstStyle/>
          <a:p>
            <a:pPr algn="ctr"/>
            <a:r>
              <a:rPr lang="en-US" sz="4000" b="1" dirty="0">
                <a:latin typeface="Aptos display" panose="020B0004020202020204" pitchFamily="34" charset="0"/>
              </a:rPr>
              <a:t>THE SOLUTION</a:t>
            </a:r>
          </a:p>
        </p:txBody>
      </p:sp>
      <p:sp>
        <p:nvSpPr>
          <p:cNvPr id="3" name="Content Placeholder 2">
            <a:extLst>
              <a:ext uri="{FF2B5EF4-FFF2-40B4-BE49-F238E27FC236}">
                <a16:creationId xmlns:a16="http://schemas.microsoft.com/office/drawing/2014/main" id="{C4CABC24-7EBF-F291-573E-B36219738EA8}"/>
              </a:ext>
            </a:extLst>
          </p:cNvPr>
          <p:cNvSpPr>
            <a:spLocks noGrp="1"/>
          </p:cNvSpPr>
          <p:nvPr>
            <p:ph idx="1"/>
          </p:nvPr>
        </p:nvSpPr>
        <p:spPr>
          <a:xfrm>
            <a:off x="838200" y="1371600"/>
            <a:ext cx="10515600" cy="4805363"/>
          </a:xfrm>
        </p:spPr>
        <p:txBody>
          <a:bodyPr>
            <a:normAutofit/>
          </a:bodyPr>
          <a:lstStyle/>
          <a:p>
            <a:pPr marL="0" indent="0">
              <a:buNone/>
            </a:pPr>
            <a:r>
              <a:rPr lang="en-US" sz="3200" dirty="0">
                <a:latin typeface="Aptos" panose="020B0004020202020204" pitchFamily="34" charset="0"/>
              </a:rPr>
              <a:t>Reflex creates one trackable delivery workflow.</a:t>
            </a:r>
          </a:p>
          <a:p>
            <a:pPr marL="0" indent="0">
              <a:buNone/>
            </a:pPr>
            <a:endParaRPr lang="en-US" sz="3200" dirty="0">
              <a:latin typeface="Aptos" panose="020B0004020202020204" pitchFamily="34" charset="0"/>
            </a:endParaRPr>
          </a:p>
          <a:p>
            <a:pPr marL="0" indent="0">
              <a:buNone/>
            </a:pPr>
            <a:r>
              <a:rPr lang="en-US" sz="3200" dirty="0">
                <a:latin typeface="Aptos" panose="020B0004020202020204" pitchFamily="34" charset="0"/>
              </a:rPr>
              <a:t>LOG  →  ASSIGN  →  UPDATE  →  CONFIRM</a:t>
            </a:r>
          </a:p>
          <a:p>
            <a:pPr marL="0" indent="0">
              <a:buNone/>
            </a:pPr>
            <a:endParaRPr lang="en-US" sz="3200" dirty="0">
              <a:latin typeface="Aptos" panose="020B0004020202020204" pitchFamily="34" charset="0"/>
            </a:endParaRPr>
          </a:p>
          <a:p>
            <a:pPr marL="0" indent="0">
              <a:buNone/>
            </a:pPr>
            <a:r>
              <a:rPr lang="en-US" sz="3200" dirty="0">
                <a:latin typeface="Aptos" panose="020B0004020202020204" pitchFamily="34" charset="0"/>
              </a:rPr>
              <a:t>Retailer → Dispatcher → Rider → Delivered</a:t>
            </a:r>
          </a:p>
          <a:p>
            <a:pPr marL="0" indent="0">
              <a:buNone/>
            </a:pPr>
            <a:r>
              <a:rPr lang="en-US" sz="3200" dirty="0">
                <a:latin typeface="Aptos" panose="020B0004020202020204" pitchFamily="34" charset="0"/>
              </a:rPr>
              <a:t>One shared delivery record</a:t>
            </a:r>
          </a:p>
          <a:p>
            <a:pPr marL="0" indent="0">
              <a:buNone/>
            </a:pPr>
            <a:r>
              <a:rPr lang="en-US" sz="3200" dirty="0">
                <a:latin typeface="Aptos" panose="020B0004020202020204" pitchFamily="34" charset="0"/>
              </a:rPr>
              <a:t>One delivery record. One visible status.</a:t>
            </a:r>
          </a:p>
          <a:p>
            <a:pPr marL="0" indent="0">
              <a:buNone/>
            </a:pPr>
            <a:endParaRPr lang="en-US" dirty="0">
              <a:latin typeface="Aptos" panose="020B0004020202020204" pitchFamily="34" charset="0"/>
            </a:endParaRPr>
          </a:p>
        </p:txBody>
      </p:sp>
    </p:spTree>
    <p:extLst>
      <p:ext uri="{BB962C8B-B14F-4D97-AF65-F5344CB8AC3E}">
        <p14:creationId xmlns:p14="http://schemas.microsoft.com/office/powerpoint/2010/main" val="18822274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5DCC0-DCBB-B09B-1D3F-EDD7F5718B43}"/>
              </a:ext>
            </a:extLst>
          </p:cNvPr>
          <p:cNvSpPr>
            <a:spLocks noGrp="1"/>
          </p:cNvSpPr>
          <p:nvPr>
            <p:ph type="title"/>
          </p:nvPr>
        </p:nvSpPr>
        <p:spPr>
          <a:xfrm>
            <a:off x="838200" y="0"/>
            <a:ext cx="10515600" cy="1051560"/>
          </a:xfrm>
        </p:spPr>
        <p:txBody>
          <a:bodyPr>
            <a:normAutofit/>
          </a:bodyPr>
          <a:lstStyle/>
          <a:p>
            <a:pPr algn="ctr"/>
            <a:r>
              <a:rPr lang="en-US" sz="4000" b="1" dirty="0">
                <a:latin typeface="Aptos" panose="020B0004020202020204" pitchFamily="34" charset="0"/>
              </a:rPr>
              <a:t>HOW REFLEX WORKS</a:t>
            </a:r>
          </a:p>
        </p:txBody>
      </p:sp>
      <p:sp>
        <p:nvSpPr>
          <p:cNvPr id="3" name="Content Placeholder 2">
            <a:extLst>
              <a:ext uri="{FF2B5EF4-FFF2-40B4-BE49-F238E27FC236}">
                <a16:creationId xmlns:a16="http://schemas.microsoft.com/office/drawing/2014/main" id="{578AF1CC-0B84-D4A9-C8E3-D6E99B73F447}"/>
              </a:ext>
            </a:extLst>
          </p:cNvPr>
          <p:cNvSpPr>
            <a:spLocks noGrp="1"/>
          </p:cNvSpPr>
          <p:nvPr>
            <p:ph idx="1"/>
          </p:nvPr>
        </p:nvSpPr>
        <p:spPr>
          <a:xfrm>
            <a:off x="0" y="754381"/>
            <a:ext cx="12192000" cy="6103619"/>
          </a:xfrm>
        </p:spPr>
        <p:txBody>
          <a:bodyPr>
            <a:noAutofit/>
          </a:bodyPr>
          <a:lstStyle/>
          <a:p>
            <a:pPr marL="0" indent="0">
              <a:buNone/>
            </a:pPr>
            <a:r>
              <a:rPr lang="en-US" sz="3200" dirty="0">
                <a:latin typeface="Aptos" panose="020B0004020202020204" pitchFamily="34" charset="0"/>
              </a:rPr>
              <a:t>[ RETAILER ] → [ LOG DELIVERY] → [ DISPATCHER ] → [ ASSIGN RIDER]</a:t>
            </a:r>
          </a:p>
          <a:p>
            <a:pPr marL="0" indent="0">
              <a:buNone/>
            </a:pPr>
            <a:r>
              <a:rPr lang="en-US" sz="3200" dirty="0">
                <a:latin typeface="Aptos" panose="020B0004020202020204" pitchFamily="34" charset="0"/>
              </a:rPr>
              <a:t> → [ RIDER ] → [ UPDATE STATUS ] → [ CONFIRM  DELIVERY] → </a:t>
            </a:r>
          </a:p>
          <a:p>
            <a:pPr marL="0" indent="0">
              <a:buNone/>
            </a:pPr>
            <a:r>
              <a:rPr lang="en-US" sz="3200" dirty="0">
                <a:latin typeface="Aptos" panose="020B0004020202020204" pitchFamily="34" charset="0"/>
              </a:rPr>
              <a:t>[DELIVERED]</a:t>
            </a:r>
          </a:p>
          <a:p>
            <a:pPr marL="0" indent="0">
              <a:buNone/>
            </a:pPr>
            <a:endParaRPr lang="en-US" sz="3200" dirty="0">
              <a:latin typeface="Aptos" panose="020B0004020202020204" pitchFamily="34" charset="0"/>
            </a:endParaRPr>
          </a:p>
          <a:p>
            <a:pPr marL="0" indent="0">
              <a:buNone/>
            </a:pPr>
            <a:r>
              <a:rPr lang="en-US" sz="3200" dirty="0">
                <a:latin typeface="Aptos" panose="020B0004020202020204" pitchFamily="34" charset="0"/>
              </a:rPr>
              <a:t>Pending → Assigned → Picked Up → Delivered</a:t>
            </a:r>
          </a:p>
        </p:txBody>
      </p:sp>
    </p:spTree>
    <p:extLst>
      <p:ext uri="{BB962C8B-B14F-4D97-AF65-F5344CB8AC3E}">
        <p14:creationId xmlns:p14="http://schemas.microsoft.com/office/powerpoint/2010/main" val="1145586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6FCE7-F74D-94F1-6D6C-388F74580253}"/>
              </a:ext>
            </a:extLst>
          </p:cNvPr>
          <p:cNvSpPr>
            <a:spLocks noGrp="1"/>
          </p:cNvSpPr>
          <p:nvPr>
            <p:ph type="title"/>
          </p:nvPr>
        </p:nvSpPr>
        <p:spPr>
          <a:xfrm>
            <a:off x="838200" y="1"/>
            <a:ext cx="10515600" cy="960119"/>
          </a:xfrm>
        </p:spPr>
        <p:txBody>
          <a:bodyPr>
            <a:normAutofit/>
          </a:bodyPr>
          <a:lstStyle/>
          <a:p>
            <a:pPr algn="ctr"/>
            <a:r>
              <a:rPr lang="en-US" sz="4000" b="1" dirty="0"/>
              <a:t>ARCHITECTURE</a:t>
            </a:r>
          </a:p>
        </p:txBody>
      </p:sp>
      <p:sp>
        <p:nvSpPr>
          <p:cNvPr id="3" name="Content Placeholder 2">
            <a:extLst>
              <a:ext uri="{FF2B5EF4-FFF2-40B4-BE49-F238E27FC236}">
                <a16:creationId xmlns:a16="http://schemas.microsoft.com/office/drawing/2014/main" id="{480875C1-31E2-BDB9-6DBA-6065520A0A23}"/>
              </a:ext>
            </a:extLst>
          </p:cNvPr>
          <p:cNvSpPr>
            <a:spLocks noGrp="1"/>
          </p:cNvSpPr>
          <p:nvPr>
            <p:ph idx="1"/>
          </p:nvPr>
        </p:nvSpPr>
        <p:spPr>
          <a:xfrm>
            <a:off x="0" y="754380"/>
            <a:ext cx="12192000" cy="6103620"/>
          </a:xfrm>
        </p:spPr>
        <p:txBody>
          <a:bodyPr>
            <a:noAutofit/>
          </a:bodyPr>
          <a:lstStyle/>
          <a:p>
            <a:pPr marL="0" indent="0">
              <a:buNone/>
            </a:pPr>
            <a:r>
              <a:rPr lang="en-US" sz="3200" b="1" dirty="0">
                <a:latin typeface="Aptos" panose="020B0004020202020204" pitchFamily="34" charset="0"/>
              </a:rPr>
              <a:t>Workflow</a:t>
            </a:r>
          </a:p>
          <a:p>
            <a:pPr marL="0" indent="0">
              <a:buNone/>
            </a:pPr>
            <a:r>
              <a:rPr lang="en-US" sz="3200" dirty="0">
                <a:latin typeface="Aptos" panose="020B0004020202020204" pitchFamily="34" charset="0"/>
              </a:rPr>
              <a:t>Retailer logs → Dispatcher assigns → Rider views → Rider picks up → Rider confirms → Delivered</a:t>
            </a:r>
          </a:p>
          <a:p>
            <a:pPr marL="0" indent="0">
              <a:buNone/>
            </a:pPr>
            <a:endParaRPr lang="en-US" sz="3200" b="1" dirty="0">
              <a:latin typeface="Aptos" panose="020B0004020202020204" pitchFamily="34" charset="0"/>
            </a:endParaRPr>
          </a:p>
          <a:p>
            <a:pPr marL="0" indent="0">
              <a:buNone/>
            </a:pPr>
            <a:r>
              <a:rPr lang="en-US" sz="3200" b="1" dirty="0">
                <a:latin typeface="Aptos" panose="020B0004020202020204" pitchFamily="34" charset="0"/>
              </a:rPr>
              <a:t>Technology</a:t>
            </a:r>
          </a:p>
          <a:p>
            <a:pPr marL="0" indent="0">
              <a:buNone/>
            </a:pPr>
            <a:r>
              <a:rPr lang="en-US" sz="3200" dirty="0">
                <a:latin typeface="Aptos" panose="020B0004020202020204" pitchFamily="34" charset="0"/>
              </a:rPr>
              <a:t>Node.js + JavaScript CLI | JSON storage | Sync checkpoint</a:t>
            </a:r>
          </a:p>
          <a:p>
            <a:pPr marL="0" indent="0">
              <a:buNone/>
            </a:pPr>
            <a:endParaRPr lang="en-US" sz="3200" b="1" dirty="0">
              <a:latin typeface="Aptos" panose="020B0004020202020204" pitchFamily="34" charset="0"/>
            </a:endParaRPr>
          </a:p>
          <a:p>
            <a:pPr marL="0" indent="0">
              <a:buNone/>
            </a:pPr>
            <a:r>
              <a:rPr lang="en-US" sz="3200" b="1" dirty="0">
                <a:latin typeface="Aptos" panose="020B0004020202020204" pitchFamily="34" charset="0"/>
              </a:rPr>
              <a:t>Delivery lifecycle</a:t>
            </a:r>
          </a:p>
          <a:p>
            <a:pPr marL="0" indent="0">
              <a:buNone/>
            </a:pPr>
            <a:r>
              <a:rPr lang="en-US" sz="3200" dirty="0">
                <a:latin typeface="Aptos" panose="020B0004020202020204" pitchFamily="34" charset="0"/>
              </a:rPr>
              <a:t>Pending → Assigned → Picked Up → Delivered</a:t>
            </a:r>
            <a:endParaRPr lang="en-US" sz="3000" dirty="0">
              <a:latin typeface="Aptos" panose="020B0004020202020204" pitchFamily="34" charset="0"/>
            </a:endParaRPr>
          </a:p>
        </p:txBody>
      </p:sp>
    </p:spTree>
    <p:extLst>
      <p:ext uri="{BB962C8B-B14F-4D97-AF65-F5344CB8AC3E}">
        <p14:creationId xmlns:p14="http://schemas.microsoft.com/office/powerpoint/2010/main" val="3266384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81C59-42CD-2CF3-EEDE-2C027B7216BB}"/>
              </a:ext>
            </a:extLst>
          </p:cNvPr>
          <p:cNvSpPr>
            <a:spLocks noGrp="1"/>
          </p:cNvSpPr>
          <p:nvPr>
            <p:ph type="title"/>
          </p:nvPr>
        </p:nvSpPr>
        <p:spPr>
          <a:xfrm>
            <a:off x="838200" y="365125"/>
            <a:ext cx="10515600" cy="571577"/>
          </a:xfrm>
        </p:spPr>
        <p:txBody>
          <a:bodyPr>
            <a:normAutofit fontScale="90000"/>
          </a:bodyPr>
          <a:lstStyle/>
          <a:p>
            <a:pPr algn="ctr"/>
            <a:r>
              <a:rPr lang="en-US" sz="4000" b="1" dirty="0">
                <a:latin typeface="Aptos display" panose="020B0004020202020204" pitchFamily="34" charset="0"/>
              </a:rPr>
              <a:t>TRADE-OFFS</a:t>
            </a:r>
          </a:p>
        </p:txBody>
      </p:sp>
      <p:sp>
        <p:nvSpPr>
          <p:cNvPr id="3" name="Content Placeholder 2">
            <a:extLst>
              <a:ext uri="{FF2B5EF4-FFF2-40B4-BE49-F238E27FC236}">
                <a16:creationId xmlns:a16="http://schemas.microsoft.com/office/drawing/2014/main" id="{AEEB766D-5B12-2450-A554-684918B57369}"/>
              </a:ext>
            </a:extLst>
          </p:cNvPr>
          <p:cNvSpPr>
            <a:spLocks noGrp="1"/>
          </p:cNvSpPr>
          <p:nvPr>
            <p:ph idx="1"/>
          </p:nvPr>
        </p:nvSpPr>
        <p:spPr>
          <a:xfrm>
            <a:off x="267629" y="936702"/>
            <a:ext cx="11924371" cy="5556173"/>
          </a:xfrm>
        </p:spPr>
        <p:txBody>
          <a:bodyPr>
            <a:normAutofit/>
          </a:bodyPr>
          <a:lstStyle/>
          <a:p>
            <a:pPr marL="0" indent="0">
              <a:buNone/>
            </a:pPr>
            <a:r>
              <a:rPr lang="en-US" sz="3200" b="1" dirty="0">
                <a:latin typeface="Aptos" panose="020B0004020202020204" pitchFamily="34" charset="0"/>
              </a:rPr>
              <a:t>Confirmation instead of scanning</a:t>
            </a:r>
          </a:p>
          <a:p>
            <a:pPr marL="0" indent="0">
              <a:buNone/>
            </a:pPr>
            <a:r>
              <a:rPr lang="en-US" sz="3200" dirty="0">
                <a:latin typeface="Aptos" panose="020B0004020202020204" pitchFamily="34" charset="0"/>
              </a:rPr>
              <a:t>4-digit code instead of physical QR scanning.</a:t>
            </a:r>
          </a:p>
          <a:p>
            <a:pPr marL="0" indent="0">
              <a:buNone/>
            </a:pPr>
            <a:r>
              <a:rPr lang="en-US" sz="3200" b="1" dirty="0">
                <a:latin typeface="Aptos" panose="020B0004020202020204" pitchFamily="34" charset="0"/>
              </a:rPr>
              <a:t>Checkpoint sync instead of real-time sync</a:t>
            </a:r>
          </a:p>
          <a:p>
            <a:pPr marL="0" indent="0">
              <a:buNone/>
            </a:pPr>
            <a:r>
              <a:rPr lang="en-US" sz="3200" dirty="0">
                <a:latin typeface="Aptos" panose="020B0004020202020204" pitchFamily="34" charset="0"/>
              </a:rPr>
              <a:t>Detects changes since the last check, not live network updates.</a:t>
            </a:r>
          </a:p>
          <a:p>
            <a:pPr marL="0" indent="0">
              <a:buNone/>
            </a:pPr>
            <a:r>
              <a:rPr lang="en-US" sz="3200" b="1" dirty="0">
                <a:latin typeface="Aptos" panose="020B0004020202020204" pitchFamily="34" charset="0"/>
              </a:rPr>
              <a:t>JSON instead of a database</a:t>
            </a:r>
          </a:p>
          <a:p>
            <a:pPr marL="0" indent="0">
              <a:buNone/>
            </a:pPr>
            <a:r>
              <a:rPr lang="en-US" sz="3200" dirty="0">
                <a:latin typeface="Aptos" panose="020B0004020202020204" pitchFamily="34" charset="0"/>
              </a:rPr>
              <a:t>Fast for the sprint, weak for concurrent production use.</a:t>
            </a:r>
          </a:p>
          <a:p>
            <a:pPr marL="0" indent="0">
              <a:buNone/>
            </a:pPr>
            <a:r>
              <a:rPr lang="en-US" sz="3200" b="1" dirty="0">
                <a:latin typeface="Aptos" panose="020B0004020202020204" pitchFamily="34" charset="0"/>
              </a:rPr>
              <a:t>Warn instead of block reassignment</a:t>
            </a:r>
          </a:p>
          <a:p>
            <a:pPr marL="0" indent="0">
              <a:buNone/>
            </a:pPr>
            <a:r>
              <a:rPr lang="en-US" sz="3200" dirty="0">
                <a:latin typeface="Aptos" panose="020B0004020202020204" pitchFamily="34" charset="0"/>
              </a:rPr>
              <a:t>Surfaces double-assignment but does not prevent concurrency conflicts.</a:t>
            </a:r>
          </a:p>
          <a:p>
            <a:pPr marL="0" indent="0">
              <a:buNone/>
            </a:pPr>
            <a:r>
              <a:rPr lang="en-US" sz="3200" dirty="0">
                <a:latin typeface="Aptos" panose="020B0004020202020204" pitchFamily="34" charset="0"/>
              </a:rPr>
              <a:t>Intentional simplifications for the sprint MVP</a:t>
            </a:r>
          </a:p>
        </p:txBody>
      </p:sp>
    </p:spTree>
    <p:extLst>
      <p:ext uri="{BB962C8B-B14F-4D97-AF65-F5344CB8AC3E}">
        <p14:creationId xmlns:p14="http://schemas.microsoft.com/office/powerpoint/2010/main" val="3311857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0F3D70-AA85-931F-2529-670DCD4AC620}"/>
              </a:ext>
            </a:extLst>
          </p:cNvPr>
          <p:cNvSpPr>
            <a:spLocks noGrp="1"/>
          </p:cNvSpPr>
          <p:nvPr>
            <p:ph type="title"/>
          </p:nvPr>
        </p:nvSpPr>
        <p:spPr>
          <a:xfrm>
            <a:off x="838200" y="365125"/>
            <a:ext cx="10515600" cy="549275"/>
          </a:xfrm>
        </p:spPr>
        <p:txBody>
          <a:bodyPr>
            <a:normAutofit fontScale="90000"/>
          </a:bodyPr>
          <a:lstStyle/>
          <a:p>
            <a:pPr algn="ctr"/>
            <a:r>
              <a:rPr lang="en-US" sz="4000" b="1" dirty="0">
                <a:latin typeface="Aptos display" panose="020B0004020202020204" pitchFamily="34" charset="0"/>
              </a:rPr>
              <a:t>ROADMAP</a:t>
            </a:r>
          </a:p>
        </p:txBody>
      </p:sp>
      <p:sp>
        <p:nvSpPr>
          <p:cNvPr id="3" name="Content Placeholder 2">
            <a:extLst>
              <a:ext uri="{FF2B5EF4-FFF2-40B4-BE49-F238E27FC236}">
                <a16:creationId xmlns:a16="http://schemas.microsoft.com/office/drawing/2014/main" id="{244FF435-BF0A-5C2C-B46E-DF7A49712929}"/>
              </a:ext>
            </a:extLst>
          </p:cNvPr>
          <p:cNvSpPr>
            <a:spLocks noGrp="1"/>
          </p:cNvSpPr>
          <p:nvPr>
            <p:ph idx="1"/>
          </p:nvPr>
        </p:nvSpPr>
        <p:spPr>
          <a:xfrm>
            <a:off x="1" y="914400"/>
            <a:ext cx="12192000" cy="5943600"/>
          </a:xfrm>
        </p:spPr>
        <p:txBody>
          <a:bodyPr>
            <a:noAutofit/>
          </a:bodyPr>
          <a:lstStyle/>
          <a:p>
            <a:pPr marL="0" indent="0">
              <a:buNone/>
            </a:pPr>
            <a:r>
              <a:rPr lang="en-US" sz="3200" b="1" dirty="0">
                <a:latin typeface="Aptos" panose="020B0004020202020204" pitchFamily="34" charset="0"/>
              </a:rPr>
              <a:t>NOW</a:t>
            </a:r>
            <a:br>
              <a:rPr lang="en-US" sz="3200" dirty="0">
                <a:latin typeface="Aptos" panose="020B0004020202020204" pitchFamily="34" charset="0"/>
              </a:rPr>
            </a:br>
            <a:r>
              <a:rPr lang="en-US" sz="3200" dirty="0">
                <a:latin typeface="Aptos" panose="020B0004020202020204" pitchFamily="34" charset="0"/>
              </a:rPr>
              <a:t>CLI MVP</a:t>
            </a:r>
            <a:br>
              <a:rPr lang="en-US" sz="3200" dirty="0">
                <a:latin typeface="Aptos" panose="020B0004020202020204" pitchFamily="34" charset="0"/>
              </a:rPr>
            </a:br>
            <a:r>
              <a:rPr lang="en-US" sz="3200" dirty="0">
                <a:latin typeface="Aptos" panose="020B0004020202020204" pitchFamily="34" charset="0"/>
              </a:rPr>
              <a:t>Log • Assign • Update • Confirm</a:t>
            </a:r>
          </a:p>
          <a:p>
            <a:pPr marL="0" indent="0">
              <a:buNone/>
            </a:pPr>
            <a:r>
              <a:rPr lang="en-US" sz="3200" dirty="0">
                <a:latin typeface="Aptos" panose="020B0004020202020204" pitchFamily="34" charset="0"/>
              </a:rPr>
              <a:t>↓</a:t>
            </a:r>
          </a:p>
          <a:p>
            <a:pPr marL="0" indent="0">
              <a:buNone/>
            </a:pPr>
            <a:r>
              <a:rPr lang="en-US" sz="3200" b="1" dirty="0">
                <a:latin typeface="Aptos" panose="020B0004020202020204" pitchFamily="34" charset="0"/>
              </a:rPr>
              <a:t>NEXT</a:t>
            </a:r>
            <a:br>
              <a:rPr lang="en-US" sz="3200" dirty="0">
                <a:latin typeface="Aptos" panose="020B0004020202020204" pitchFamily="34" charset="0"/>
              </a:rPr>
            </a:br>
            <a:r>
              <a:rPr lang="en-US" sz="3200" dirty="0">
                <a:latin typeface="Aptos" panose="020B0004020202020204" pitchFamily="34" charset="0"/>
              </a:rPr>
              <a:t>Production infrastructure</a:t>
            </a:r>
            <a:br>
              <a:rPr lang="en-US" sz="3200" dirty="0">
                <a:latin typeface="Aptos" panose="020B0004020202020204" pitchFamily="34" charset="0"/>
              </a:rPr>
            </a:br>
            <a:r>
              <a:rPr lang="en-US" sz="3200" dirty="0">
                <a:latin typeface="Aptos" panose="020B0004020202020204" pitchFamily="34" charset="0"/>
              </a:rPr>
              <a:t>Database• API • Authentication • Real-time sync </a:t>
            </a:r>
          </a:p>
          <a:p>
            <a:pPr marL="0" indent="0">
              <a:buNone/>
            </a:pPr>
            <a:r>
              <a:rPr lang="en-US" sz="3200" dirty="0">
                <a:latin typeface="Aptos" panose="020B0004020202020204" pitchFamily="34" charset="0"/>
              </a:rPr>
              <a:t>↓</a:t>
            </a:r>
          </a:p>
          <a:p>
            <a:pPr marL="0" indent="0">
              <a:buNone/>
            </a:pPr>
            <a:r>
              <a:rPr lang="en-US" sz="3200" b="1" dirty="0">
                <a:latin typeface="Aptos" panose="020B0004020202020204" pitchFamily="34" charset="0"/>
              </a:rPr>
              <a:t>LATER</a:t>
            </a:r>
            <a:br>
              <a:rPr lang="en-US" sz="3200" dirty="0">
                <a:latin typeface="Aptos" panose="020B0004020202020204" pitchFamily="34" charset="0"/>
              </a:rPr>
            </a:br>
            <a:r>
              <a:rPr lang="en-US" sz="3200" dirty="0">
                <a:latin typeface="Aptos" panose="020B0004020202020204" pitchFamily="34" charset="0"/>
              </a:rPr>
              <a:t>Enhanced visibility</a:t>
            </a:r>
            <a:br>
              <a:rPr lang="en-US" sz="3200" dirty="0">
                <a:latin typeface="Aptos" panose="020B0004020202020204" pitchFamily="34" charset="0"/>
              </a:rPr>
            </a:br>
            <a:r>
              <a:rPr lang="en-US" sz="3200" dirty="0">
                <a:latin typeface="Aptos" panose="020B0004020202020204" pitchFamily="34" charset="0"/>
              </a:rPr>
              <a:t>GPS • Proof of delivery • Notifications • Analytics</a:t>
            </a:r>
          </a:p>
          <a:p>
            <a:pPr marL="0" indent="0">
              <a:buNone/>
            </a:pPr>
            <a:r>
              <a:rPr lang="en-US" sz="3200" dirty="0">
                <a:latin typeface="Aptos" panose="020B0004020202020204" pitchFamily="34" charset="0"/>
              </a:rPr>
              <a:t>MVP workflow → Production platform → Richer delivery visibility</a:t>
            </a:r>
          </a:p>
        </p:txBody>
      </p:sp>
    </p:spTree>
    <p:extLst>
      <p:ext uri="{BB962C8B-B14F-4D97-AF65-F5344CB8AC3E}">
        <p14:creationId xmlns:p14="http://schemas.microsoft.com/office/powerpoint/2010/main" val="2847364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E8DFB-129D-1B80-C81C-5B33E91DFEAC}"/>
              </a:ext>
            </a:extLst>
          </p:cNvPr>
          <p:cNvSpPr>
            <a:spLocks noGrp="1"/>
          </p:cNvSpPr>
          <p:nvPr>
            <p:ph type="title"/>
          </p:nvPr>
        </p:nvSpPr>
        <p:spPr/>
        <p:txBody>
          <a:bodyPr>
            <a:normAutofit/>
          </a:bodyPr>
          <a:lstStyle/>
          <a:p>
            <a:pPr algn="ctr"/>
            <a:r>
              <a:rPr lang="en-US" sz="4000" b="1" dirty="0">
                <a:latin typeface="Aptos display" panose="020B0004020202020204" pitchFamily="34" charset="0"/>
              </a:rPr>
              <a:t>TAKEAWAY</a:t>
            </a:r>
          </a:p>
        </p:txBody>
      </p:sp>
      <p:sp>
        <p:nvSpPr>
          <p:cNvPr id="3" name="Content Placeholder 2">
            <a:extLst>
              <a:ext uri="{FF2B5EF4-FFF2-40B4-BE49-F238E27FC236}">
                <a16:creationId xmlns:a16="http://schemas.microsoft.com/office/drawing/2014/main" id="{758ABD99-F9FB-DBC7-2EB6-E909E734830B}"/>
              </a:ext>
            </a:extLst>
          </p:cNvPr>
          <p:cNvSpPr>
            <a:spLocks noGrp="1"/>
          </p:cNvSpPr>
          <p:nvPr>
            <p:ph idx="1"/>
          </p:nvPr>
        </p:nvSpPr>
        <p:spPr>
          <a:xfrm>
            <a:off x="200722" y="1405054"/>
            <a:ext cx="11708780" cy="4771909"/>
          </a:xfrm>
        </p:spPr>
        <p:txBody>
          <a:bodyPr>
            <a:normAutofit/>
          </a:bodyPr>
          <a:lstStyle/>
          <a:p>
            <a:pPr marL="0" indent="0">
              <a:buNone/>
            </a:pPr>
            <a:r>
              <a:rPr lang="en-US" sz="3600" dirty="0">
                <a:latin typeface="Aptos" panose="020B0004020202020204" pitchFamily="34" charset="0"/>
              </a:rPr>
              <a:t>Reflex turns fragmented delivery coordination into a visible, trackable workflow.</a:t>
            </a:r>
          </a:p>
          <a:p>
            <a:pPr marL="0" indent="0">
              <a:buNone/>
            </a:pPr>
            <a:endParaRPr lang="en-US" sz="3600" dirty="0">
              <a:latin typeface="Aptos" panose="020B0004020202020204" pitchFamily="34" charset="0"/>
            </a:endParaRPr>
          </a:p>
          <a:p>
            <a:pPr marL="0" indent="0">
              <a:buNone/>
            </a:pPr>
            <a:r>
              <a:rPr lang="en-US" sz="3600" b="1" dirty="0">
                <a:latin typeface="Aptos" panose="020B0004020202020204" pitchFamily="34" charset="0"/>
              </a:rPr>
              <a:t>Retailer → Dispatcher → Rider</a:t>
            </a:r>
          </a:p>
          <a:p>
            <a:pPr marL="0" indent="0">
              <a:buNone/>
            </a:pPr>
            <a:endParaRPr lang="en-US" sz="3600" dirty="0">
              <a:latin typeface="Aptos" panose="020B0004020202020204" pitchFamily="34" charset="0"/>
            </a:endParaRPr>
          </a:p>
          <a:p>
            <a:pPr marL="0" indent="0">
              <a:buNone/>
            </a:pPr>
            <a:r>
              <a:rPr lang="en-US" sz="3600" dirty="0">
                <a:latin typeface="Aptos" panose="020B0004020202020204" pitchFamily="34" charset="0"/>
              </a:rPr>
              <a:t>One record. One lifecycle. Clearer visibility.</a:t>
            </a:r>
          </a:p>
          <a:p>
            <a:pPr marL="0" indent="0">
              <a:buNone/>
            </a:pPr>
            <a:endParaRPr lang="en-US" sz="3600" dirty="0">
              <a:latin typeface="Aptos" panose="020B0004020202020204" pitchFamily="34" charset="0"/>
            </a:endParaRPr>
          </a:p>
        </p:txBody>
      </p:sp>
    </p:spTree>
    <p:extLst>
      <p:ext uri="{BB962C8B-B14F-4D97-AF65-F5344CB8AC3E}">
        <p14:creationId xmlns:p14="http://schemas.microsoft.com/office/powerpoint/2010/main" val="24545432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1161</TotalTime>
  <Words>2472</Words>
  <Application>Microsoft Office PowerPoint</Application>
  <PresentationFormat>Widescreen</PresentationFormat>
  <Paragraphs>185</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Calibri</vt:lpstr>
      <vt:lpstr>Calibri Light</vt:lpstr>
      <vt:lpstr>Office Theme</vt:lpstr>
      <vt:lpstr>REFLEX</vt:lpstr>
      <vt:lpstr>THE PROBLEM</vt:lpstr>
      <vt:lpstr>THE SOLUTION</vt:lpstr>
      <vt:lpstr>HOW REFLEX WORKS</vt:lpstr>
      <vt:lpstr>ARCHITECTURE</vt:lpstr>
      <vt:lpstr>TRADE-OFFS</vt:lpstr>
      <vt:lpstr>ROADMAP</vt:lpstr>
      <vt:lpstr>TAKEAWAY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Topister Were</dc:creator>
  <cp:lastModifiedBy>Topister Were</cp:lastModifiedBy>
  <cp:revision>21</cp:revision>
  <dcterms:created xsi:type="dcterms:W3CDTF">2026-08-25T13:41:59Z</dcterms:created>
  <dcterms:modified xsi:type="dcterms:W3CDTF">2026-08-26T21:48:20Z</dcterms:modified>
</cp:coreProperties>
</file>